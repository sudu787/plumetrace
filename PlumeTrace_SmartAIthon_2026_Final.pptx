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>
            <a:extLst>
              <a:ext uri="{FF2B5EF4-FFF2-40B4-BE49-F238E27FC236}">
                <a16:creationId xmlns:a16="http://schemas.microsoft.com/office/drawing/2014/main" id="{CE6C03E0-B54B-4CFD-8F2F-BFFCB2165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>
            <a:extLst>
              <a:ext uri="{FF2B5EF4-FFF2-40B4-BE49-F238E27FC236}">
                <a16:creationId xmlns:a16="http://schemas.microsoft.com/office/drawing/2014/main" id="{EFD78EEE-1C75-46B9-ABE5-3824B5761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>
            <a:extLst>
              <a:ext uri="{FF2B5EF4-FFF2-40B4-BE49-F238E27FC236}">
                <a16:creationId xmlns:a16="http://schemas.microsoft.com/office/drawing/2014/main" id="{D8E1A403-AD8F-41C7-BF14-6E67559D92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>
            <a:extLst>
              <a:ext uri="{FF2B5EF4-FFF2-40B4-BE49-F238E27FC236}">
                <a16:creationId xmlns:a16="http://schemas.microsoft.com/office/drawing/2014/main" id="{0F180DBD-2256-4BE0-ACAB-2C7162A5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4">
            <a:extLst>
              <a:ext uri="{FF2B5EF4-FFF2-40B4-BE49-F238E27FC236}">
                <a16:creationId xmlns:a16="http://schemas.microsoft.com/office/drawing/2014/main" id="{ED0FE118-D39D-47DE-AD2B-610BDD32A85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>
            <a:extLst>
              <a:ext uri="{FF2B5EF4-FFF2-40B4-BE49-F238E27FC236}">
                <a16:creationId xmlns:a16="http://schemas.microsoft.com/office/drawing/2014/main" id="{F06635B6-3D1E-443A-A5D5-16CD0783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>
            <a:extLst>
              <a:ext uri="{FF2B5EF4-FFF2-40B4-BE49-F238E27FC236}">
                <a16:creationId xmlns:a16="http://schemas.microsoft.com/office/drawing/2014/main" id="{45BF2C98-BA9C-4AAC-99DF-09080B57D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5">
            <a:extLst>
              <a:ext uri="{FF2B5EF4-FFF2-40B4-BE49-F238E27FC236}">
                <a16:creationId xmlns:a16="http://schemas.microsoft.com/office/drawing/2014/main" id="{28DEC30F-D2DA-439D-9A64-285C034FD2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>
            <a:extLst>
              <a:ext uri="{FF2B5EF4-FFF2-40B4-BE49-F238E27FC236}">
                <a16:creationId xmlns:a16="http://schemas.microsoft.com/office/drawing/2014/main" id="{C4D92EA3-93A4-486A-82B1-0365C7E1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>
            <a:extLst>
              <a:ext uri="{FF2B5EF4-FFF2-40B4-BE49-F238E27FC236}">
                <a16:creationId xmlns:a16="http://schemas.microsoft.com/office/drawing/2014/main" id="{0B9CF809-D6AA-49C3-92DF-67E5084FE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6">
            <a:extLst>
              <a:ext uri="{FF2B5EF4-FFF2-40B4-BE49-F238E27FC236}">
                <a16:creationId xmlns:a16="http://schemas.microsoft.com/office/drawing/2014/main" id="{C9B7CB11-77B4-44D6-9F70-596092F8D96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6">
            <a:extLst>
              <a:ext uri="{FF2B5EF4-FFF2-40B4-BE49-F238E27FC236}">
                <a16:creationId xmlns:a16="http://schemas.microsoft.com/office/drawing/2014/main" id="{A6405E5E-D0C7-4716-9396-BDA769A272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>
            <a:extLst>
              <a:ext uri="{FF2B5EF4-FFF2-40B4-BE49-F238E27FC236}">
                <a16:creationId xmlns:a16="http://schemas.microsoft.com/office/drawing/2014/main" id="{73E479D1-C3C8-421C-BD99-4FD6D63A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>
            <a:extLst>
              <a:ext uri="{FF2B5EF4-FFF2-40B4-BE49-F238E27FC236}">
                <a16:creationId xmlns:a16="http://schemas.microsoft.com/office/drawing/2014/main" id="{BB100BA9-3278-49AF-8DEA-C9B1503215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>
            <a:extLst>
              <a:ext uri="{FF2B5EF4-FFF2-40B4-BE49-F238E27FC236}">
                <a16:creationId xmlns:a16="http://schemas.microsoft.com/office/drawing/2014/main" id="{B86DB506-755E-4803-ACE7-5D5692D0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8">
            <a:extLst>
              <a:ext uri="{FF2B5EF4-FFF2-40B4-BE49-F238E27FC236}">
                <a16:creationId xmlns:a16="http://schemas.microsoft.com/office/drawing/2014/main" id="{781CAFCA-EC31-4787-AE7A-AA2E551BB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8">
            <a:extLst>
              <a:ext uri="{FF2B5EF4-FFF2-40B4-BE49-F238E27FC236}">
                <a16:creationId xmlns:a16="http://schemas.microsoft.com/office/drawing/2014/main" id="{060F9B0B-FA9F-4F54-864F-2F7DBFE119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>
            <a:extLst>
              <a:ext uri="{FF2B5EF4-FFF2-40B4-BE49-F238E27FC236}">
                <a16:creationId xmlns:a16="http://schemas.microsoft.com/office/drawing/2014/main" id="{D0C02E67-DD4D-4179-8399-131DAA500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9">
            <a:extLst>
              <a:ext uri="{FF2B5EF4-FFF2-40B4-BE49-F238E27FC236}">
                <a16:creationId xmlns:a16="http://schemas.microsoft.com/office/drawing/2014/main" id="{AC61AA5F-22A1-4803-A70E-4F7AA43AE2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>
            <a:extLst>
              <a:ext uri="{FF2B5EF4-FFF2-40B4-BE49-F238E27FC236}">
                <a16:creationId xmlns:a16="http://schemas.microsoft.com/office/drawing/2014/main" id="{44578080-2353-4E9B-994E-05EE97B93A88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0">
            <a:extLst>
              <a:ext uri="{FF2B5EF4-FFF2-40B4-BE49-F238E27FC236}">
                <a16:creationId xmlns:a16="http://schemas.microsoft.com/office/drawing/2014/main" id="{69FE6051-7F89-4EF5-BB37-78505840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0">
            <a:extLst>
              <a:ext uri="{FF2B5EF4-FFF2-40B4-BE49-F238E27FC236}">
                <a16:creationId xmlns:a16="http://schemas.microsoft.com/office/drawing/2014/main" id="{B1FAE585-A3EE-4642-8D41-7941332A1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0">
            <a:extLst>
              <a:ext uri="{FF2B5EF4-FFF2-40B4-BE49-F238E27FC236}">
                <a16:creationId xmlns:a16="http://schemas.microsoft.com/office/drawing/2014/main" id="{76AAC072-694D-4851-92BD-B941061668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0">
            <a:extLst>
              <a:ext uri="{FF2B5EF4-FFF2-40B4-BE49-F238E27FC236}">
                <a16:creationId xmlns:a16="http://schemas.microsoft.com/office/drawing/2014/main" id="{9C953D42-A22C-45FE-822E-656F567017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>
            <a:extLst>
              <a:ext uri="{FF2B5EF4-FFF2-40B4-BE49-F238E27FC236}">
                <a16:creationId xmlns:a16="http://schemas.microsoft.com/office/drawing/2014/main" id="{5D5C5588-5B35-4989-90A1-5C77F2313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1">
            <a:extLst>
              <a:ext uri="{FF2B5EF4-FFF2-40B4-BE49-F238E27FC236}">
                <a16:creationId xmlns:a16="http://schemas.microsoft.com/office/drawing/2014/main" id="{89D8F396-D057-443F-80C4-F721514B00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77C064FE-24C3-45D8-B3D1-72AEE0C57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>
            <a:extLst>
              <a:ext uri="{FF2B5EF4-FFF2-40B4-BE49-F238E27FC236}">
                <a16:creationId xmlns:a16="http://schemas.microsoft.com/office/drawing/2014/main" id="{3CEEBE26-1C23-4726-9D58-1FC1859BE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2">
            <a:extLst>
              <a:ext uri="{FF2B5EF4-FFF2-40B4-BE49-F238E27FC236}">
                <a16:creationId xmlns:a16="http://schemas.microsoft.com/office/drawing/2014/main" id="{C49B1F2A-157F-481B-8938-DE3BBEBA4C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>
            <a:extLst>
              <a:ext uri="{FF2B5EF4-FFF2-40B4-BE49-F238E27FC236}">
                <a16:creationId xmlns:a16="http://schemas.microsoft.com/office/drawing/2014/main" id="{18F95E9E-BEFE-4DA4-862B-6F4AA8133A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>
            <a:extLst>
              <a:ext uri="{FF2B5EF4-FFF2-40B4-BE49-F238E27FC236}">
                <a16:creationId xmlns:a16="http://schemas.microsoft.com/office/drawing/2014/main" id="{9737D93A-C98F-43C6-845B-D11BD9A8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12">
            <a:extLst>
              <a:ext uri="{FF2B5EF4-FFF2-40B4-BE49-F238E27FC236}">
                <a16:creationId xmlns:a16="http://schemas.microsoft.com/office/drawing/2014/main" id="{92A60A65-A3EA-49D7-AC7A-6A66CC5B2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" name="Google Shape;8;p12">
            <a:extLst>
              <a:ext uri="{FF2B5EF4-FFF2-40B4-BE49-F238E27FC236}">
                <a16:creationId xmlns:a16="http://schemas.microsoft.com/office/drawing/2014/main" id="{06DB912B-15F7-4D5E-9692-B804F2858CE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6E0649DA-A34A-4E00-B3FD-ED8B36A26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780" y="1260950"/>
            <a:ext cx="85206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/>
          <a:p>
            <a:pPr marL="0" indent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PlumeTrace</a:t>
            </a:r>
          </a:p>
        </p:txBody>
      </p:sp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8E5D945C-E6E7-4F0C-B20F-970AA2198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408349"/>
            <a:ext cx="5276700" cy="204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200" dirty="0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AI-Powered Municipal Environmental Forensics Platform</a:t>
            </a:r>
          </a:p>
          <a:p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200" dirty="0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Team Name: </a:t>
            </a:r>
            <a:r>
              <a:rPr sz="1200" dirty="0" err="1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PlumeTrace</a:t>
            </a:r>
            <a:endParaRPr sz="1200" dirty="0">
              <a:solidFill>
                <a:srgbClr val="0F172B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200" dirty="0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Team Leader Name: </a:t>
            </a:r>
            <a:r>
              <a:rPr lang="en-GB" sz="1200" dirty="0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SUDARSHAN AJOY SINDHU</a:t>
            </a:r>
          </a:p>
          <a:p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200" dirty="0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Teammates Name: </a:t>
            </a:r>
            <a:r>
              <a:rPr lang="en-GB" sz="1200" dirty="0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SAURABH KHOLLI</a:t>
            </a:r>
          </a:p>
          <a:p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200" dirty="0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College Name: </a:t>
            </a:r>
            <a:r>
              <a:rPr lang="en-GB" sz="1200" dirty="0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ABV IIITM GWALIOR</a:t>
            </a:r>
            <a:endParaRPr sz="1200" dirty="0">
              <a:solidFill>
                <a:srgbClr val="0F172B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6" name="Google Shape;56;p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67" name="Google Shape;57;p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3475" y="58800"/>
            <a:ext cx="2435905" cy="648825"/>
          </a:xfrm>
          <a:prstGeom prst="rect">
            <a:avLst/>
          </a:prstGeom>
          <a:ln>
            <a:noFill/>
          </a:ln>
        </p:spPr>
      </p:pic>
      <p:pic>
        <p:nvPicPr>
          <p:cNvPr id="68" name="Google Shape;58;p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97550" y="58788"/>
            <a:ext cx="1524000" cy="603956"/>
          </a:xfrm>
          <a:prstGeom prst="rect">
            <a:avLst/>
          </a:prstGeom>
          <a:ln>
            <a:noFill/>
          </a:ln>
        </p:spPr>
      </p:pic>
      <p:pic>
        <p:nvPicPr>
          <p:cNvPr id="69" name="Google Shape;59;p1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10651" y="76342"/>
            <a:ext cx="1524000" cy="631283"/>
          </a:xfrm>
          <a:prstGeom prst="rect">
            <a:avLst/>
          </a:prstGeom>
          <a:ln>
            <a:noFill/>
          </a:ln>
        </p:spPr>
      </p:pic>
      <p:pic>
        <p:nvPicPr>
          <p:cNvPr id="70" name="Google Shape;60;p1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16075" y="103675"/>
            <a:ext cx="947372" cy="603950"/>
          </a:xfrm>
          <a:prstGeom prst="rect">
            <a:avLst/>
          </a:prstGeom>
          <a:ln>
            <a:noFill/>
          </a:ln>
        </p:spPr>
      </p:pic>
      <p:pic>
        <p:nvPicPr>
          <p:cNvPr id="71" name="Google Shape;61;p1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0575" y="113850"/>
            <a:ext cx="1524000" cy="593763"/>
          </a:xfrm>
          <a:prstGeom prst="rect">
            <a:avLst/>
          </a:prstGeom>
          <a:ln>
            <a:noFill/>
          </a:ln>
        </p:spPr>
      </p:pic>
      <p:pic>
        <p:nvPicPr>
          <p:cNvPr id="72" name="Google Shape;62;p1"/>
          <p:cNvPicPr>
            <a:picLocks noChangeAspect="1"/>
          </p:cNvPicPr>
          <p:nvPr/>
        </p:nvPicPr>
        <p:blipFill rotWithShape="1">
          <a:blip r:embed="rId9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pic>
        <p:nvPicPr>
          <p:cNvPr id="73" name="Google Shape;63;p1"/>
          <p:cNvPicPr>
            <a:picLocks noChangeAspect="1"/>
          </p:cNvPicPr>
          <p:nvPr/>
        </p:nvPicPr>
        <p:blipFill rotWithShape="1">
          <a:blip r:embed="rId10">
            <a:alphaModFix/>
          </a:blip>
          <a:srcRect/>
          <a:stretch/>
        </p:blipFill>
        <p:spPr>
          <a:xfrm rot="-5400000">
            <a:off x="4401225" y="-3711450"/>
            <a:ext cx="319075" cy="91572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464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E5015330-27A0-49EE-89E8-7E4E8C4CA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50" y="0"/>
            <a:ext cx="50538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dirty="0">
                <a:latin typeface="Times New Roman"/>
                <a:ea typeface="Times New Roman"/>
                <a:cs typeface="Times New Roman"/>
              </a:rPr>
              <a:t>PROBLEM  STATEMENT</a:t>
            </a:r>
          </a:p>
        </p:txBody>
      </p:sp>
      <p:pic>
        <p:nvPicPr>
          <p:cNvPr id="77" name="Google Shape;69;p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78" name="Google Shape;70;p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43663" y="431600"/>
            <a:ext cx="256675" cy="9167125"/>
          </a:xfrm>
          <a:prstGeom prst="rect">
            <a:avLst/>
          </a:prstGeom>
          <a:ln>
            <a:noFill/>
          </a:ln>
        </p:spPr>
      </p:pic>
      <p:pic>
        <p:nvPicPr>
          <p:cNvPr id="79" name="Google Shape;71;p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12474" y="-3661887"/>
            <a:ext cx="319075" cy="9058100"/>
          </a:xfrm>
          <a:prstGeom prst="rect">
            <a:avLst/>
          </a:prstGeom>
          <a:ln>
            <a:noFill/>
          </a:ln>
        </p:spPr>
      </p:pic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EE3390CC-B2C6-4C19-8F6C-30993A1CB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14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Municipal agencies detect air quality violations daily, but proving which facility caused a pollution plume remains the critical bottleneck for enforcement action.</a:t>
            </a:r>
          </a:p>
          <a:p>
            <a:r>
              <a:rPr sz="1350">
                <a:latin typeface="Times New Roman"/>
              </a:rPr>
              <a:t>• Sparse IoT sensor grids capture local concentrations but cannot trace pollutant transport paths through complex urban wind fields.</a:t>
            </a:r>
          </a:p>
          <a:p>
            <a:r>
              <a:rPr sz="1350">
                <a:latin typeface="Times New Roman"/>
              </a:rPr>
              <a:t>• Manual traceback involving weather lookups, property searches, and legal drafting delays field response by hours or days.</a:t>
            </a:r>
          </a:p>
          <a:p>
            <a:r>
              <a:rPr sz="1350">
                <a:latin typeface="Times New Roman"/>
              </a:rPr>
              <a:t>• Generic AI alerts lack physical constraints derived from atmospheric transport equations, making source claims legally indefensible.</a:t>
            </a:r>
          </a:p>
          <a:p>
            <a:r>
              <a:rPr sz="1350">
                <a:latin typeface="Times New Roman"/>
              </a:rPr>
              <a:t>• Compliance evidence must form an unbroken chain from sensor reading → wind vector → predicted source → facility history → regulatory citation.</a:t>
            </a:r>
          </a:p>
          <a:p>
            <a:r>
              <a:rPr sz="1350">
                <a:latin typeface="Times New Roman"/>
              </a:rPr>
              <a:t>PlumeTrace closes this gap: it converts a critical hazard alert into real-time, physics-backed source attribution and a review-ready regulatory enforcement warning.</a:t>
            </a:r>
          </a:p>
        </p:txBody>
      </p:sp>
    </p:spTree>
    <p:extLst>
      <p:ext uri="{BB962C8B-B14F-4D97-AF65-F5344CB8AC3E}">
        <p14:creationId xmlns:p14="http://schemas.microsoft.com/office/powerpoint/2010/main" val="119084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>
            <a:extLst>
              <a:ext uri="{FF2B5EF4-FFF2-40B4-BE49-F238E27FC236}">
                <a16:creationId xmlns:a16="http://schemas.microsoft.com/office/drawing/2014/main" id="{2B85539B-7625-4433-AB2F-D57AFA943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51" y="79725"/>
            <a:ext cx="3141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ABSTRACT</a:t>
            </a:r>
          </a:p>
        </p:txBody>
      </p:sp>
      <p:pic>
        <p:nvPicPr>
          <p:cNvPr id="86" name="Google Shape;78;p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87" name="Google Shape;79;p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pic>
        <p:nvPicPr>
          <p:cNvPr id="88" name="Google Shape;80;p3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sp>
        <p:nvSpPr>
          <p:cNvPr id="81" name="Google Shape;81;p3">
            <a:extLst>
              <a:ext uri="{FF2B5EF4-FFF2-40B4-BE49-F238E27FC236}">
                <a16:creationId xmlns:a16="http://schemas.microsoft.com/office/drawing/2014/main" id="{4927B464-6C7A-4C3E-BE30-BC19B9298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PlumeTrace is an AI-powered environmental forensics platform for municipal smart-city hazard response, combining physics-informed deep learning with autonomous compliance workflows.</a:t>
            </a:r>
          </a:p>
          <a:p>
            <a:r>
              <a:rPr sz="1350">
                <a:latin typeface="Times New Roman"/>
              </a:rPr>
              <a:t>• Eight industrial-zone IoT sensors publish live air-quality telemetry (SO₂, PM2.5, wind vectors, altitude) through an MQTT broker at 2-second intervals.</a:t>
            </a:r>
          </a:p>
          <a:p>
            <a:r>
              <a:rPr sz="1350">
                <a:latin typeface="Times New Roman"/>
              </a:rPr>
              <a:t>• An asynchronous FastAPI backend validates payloads via Pydantic v2, persists to SQLite, and broadcasts readings to the dashboard via Server-Sent Events (SSE).</a:t>
            </a:r>
          </a:p>
          <a:p>
            <a:r>
              <a:rPr sz="1350">
                <a:latin typeface="Times New Roman"/>
              </a:rPr>
              <a:t>• A 4D Physics-Informed Neural Network (PINN) solves the advection-diffusion PDE ∂C/∂t + u·∇C − D∇²C = 0 backwards in (x, y, z, t) to estimate upstream emission origin.</a:t>
            </a:r>
          </a:p>
          <a:p>
            <a:r>
              <a:rPr sz="1350">
                <a:latin typeface="Times New Roman"/>
              </a:rPr>
              <a:t>• LangGraph state-machine agents enrich alerts with meteorological vectors, RAG-retrieved Clean Air Act policies, facility registry records, and enforcement language.</a:t>
            </a:r>
          </a:p>
          <a:p>
            <a:r>
              <a:rPr sz="1350">
                <a:latin typeface="Times New Roman"/>
              </a:rPr>
              <a:t>• A human-in-the-loop review panel allows operators to approve, reject, or request AI-powered refinements to draft enforcement reports before dispatch.</a:t>
            </a:r>
          </a:p>
        </p:txBody>
      </p:sp>
    </p:spTree>
    <p:extLst>
      <p:ext uri="{BB962C8B-B14F-4D97-AF65-F5344CB8AC3E}">
        <p14:creationId xmlns:p14="http://schemas.microsoft.com/office/powerpoint/2010/main" val="45996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>
            <a:extLst>
              <a:ext uri="{FF2B5EF4-FFF2-40B4-BE49-F238E27FC236}">
                <a16:creationId xmlns:a16="http://schemas.microsoft.com/office/drawing/2014/main" id="{FEFC03E4-C453-414C-ADF9-F1463D83F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290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Backend: FastAPI, gmqtt, async SQLAlchemy (aiosqlite), SQLite, Pydantic v2, SSE Manager with auto-reconnection.</a:t>
            </a:r>
          </a:p>
          <a:p>
            <a:r>
              <a:rPr sz="1350">
                <a:latin typeface="Times New Roman"/>
              </a:rPr>
              <a:t>Streaming: Embedded amqtt MQTT broker with password authentication; gmqtt async client for sensor subscriptions.</a:t>
            </a:r>
          </a:p>
          <a:p>
            <a:r>
              <a:rPr sz="1350">
                <a:latin typeface="Times New Roman"/>
              </a:rPr>
              <a:t>AI/ML: PyTorch 4D PINN — Fourier Residual architecture (8 blocks, 128 units), Sobol collocation, AdamW + L-BFGS two-stage optimization, SoftAdapt loss weighting.</a:t>
            </a:r>
          </a:p>
          <a:p>
            <a:r>
              <a:rPr sz="1350">
                <a:latin typeface="Times New Roman"/>
              </a:rPr>
              <a:t>Agents: LangGraph state-machine, LangChain tool integrations, TF-IDF RAG engine for Clean Air Act and municipal zoning policies, deterministic fallback report templates.</a:t>
            </a:r>
          </a:p>
          <a:p>
            <a:r>
              <a:rPr sz="1350">
                <a:latin typeface="Times New Roman"/>
              </a:rPr>
              <a:t>Frontend: Next.js 14, Tailwind CSS, react-map-gl (MapLibre GL), SSE with exponential backoff reconnection, Lucide icons, interactive scenario simulator.</a:t>
            </a:r>
          </a:p>
          <a:p>
            <a:r>
              <a:rPr sz="1350">
                <a:latin typeface="Times New Roman"/>
              </a:rPr>
              <a:t>Tuning: Optuna hyperparameter optimization for PINN architecture search (hidden units, layers, Fourier bands, loss weights).</a:t>
            </a:r>
          </a:p>
        </p:txBody>
      </p:sp>
      <p:pic>
        <p:nvPicPr>
          <p:cNvPr id="95" name="Google Shape;87;p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96" name="Google Shape;88;p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pic>
        <p:nvPicPr>
          <p:cNvPr id="97" name="Google Shape;89;p4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sp>
        <p:nvSpPr>
          <p:cNvPr id="90" name="Google Shape;90;p4">
            <a:extLst>
              <a:ext uri="{FF2B5EF4-FFF2-40B4-BE49-F238E27FC236}">
                <a16:creationId xmlns:a16="http://schemas.microsoft.com/office/drawing/2014/main" id="{EC58FF61-554B-4E3E-9D4E-9EC32B751D35}"/>
              </a:ext>
            </a:extLst>
          </p:cNvPr>
          <p:cNvSpPr>
            <a:spLocks noGrp="1"/>
          </p:cNvSpPr>
          <p:nvPr/>
        </p:nvSpPr>
        <p:spPr>
          <a:xfrm>
            <a:off x="111000" y="73325"/>
            <a:ext cx="54804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1551485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>
            <a:extLst>
              <a:ext uri="{FF2B5EF4-FFF2-40B4-BE49-F238E27FC236}">
                <a16:creationId xmlns:a16="http://schemas.microsoft.com/office/drawing/2014/main" id="{A84AC7A9-D6FF-4F2C-BD1D-6A45F4756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19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Current air-quality response tools leave a critical gap between pollution detection and legally defensible source attribution.</a:t>
            </a:r>
          </a:p>
          <a:p>
            <a:r>
              <a:rPr sz="1350">
                <a:latin typeface="Times New Roman"/>
              </a:rPr>
              <a:t>• Fixed monitoring dashboards (e.g., AirNow, PurpleAir) show that pollution occurred, but cannot prove which facility caused it.</a:t>
            </a:r>
          </a:p>
          <a:p>
            <a:r>
              <a:rPr sz="1350">
                <a:latin typeface="Times New Roman"/>
              </a:rPr>
              <a:t>• Offline Gaussian dispersion studies (AERMOD, CALPUFF) can be accurate, but require hours of manual setup — too slow for real-time incident triage.</a:t>
            </a:r>
          </a:p>
          <a:p>
            <a:r>
              <a:rPr sz="1350">
                <a:latin typeface="Times New Roman"/>
              </a:rPr>
              <a:t>• Generic ML anomaly detection lacks physical constraints, producing source estimates that are difficult to defend in regulatory proceedings.</a:t>
            </a:r>
          </a:p>
          <a:p>
            <a:r>
              <a:rPr sz="1350">
                <a:latin typeface="Times New Roman"/>
              </a:rPr>
              <a:t>• Manual property-map cross-referencing creates inconsistent evidence trails and slows enforcement response.</a:t>
            </a:r>
          </a:p>
          <a:p>
            <a:r>
              <a:rPr sz="1350">
                <a:latin typeface="Times New Roman"/>
              </a:rPr>
              <a:t>PlumeTrace unifies live sensor streams, physics-informed 4D inversion, municipal property records, and RAG-augmented legal drafting into one auditable, real-time workflow.</a:t>
            </a:r>
          </a:p>
        </p:txBody>
      </p:sp>
      <p:pic>
        <p:nvPicPr>
          <p:cNvPr id="104" name="Google Shape;96;p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105" name="Google Shape;97;p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pic>
        <p:nvPicPr>
          <p:cNvPr id="106" name="Google Shape;98;p5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5">
            <a:extLst>
              <a:ext uri="{FF2B5EF4-FFF2-40B4-BE49-F238E27FC236}">
                <a16:creationId xmlns:a16="http://schemas.microsoft.com/office/drawing/2014/main" id="{3B3BAC6E-A4D3-48B1-A45B-0C2E408B72FB}"/>
              </a:ext>
            </a:extLst>
          </p:cNvPr>
          <p:cNvSpPr>
            <a:spLocks noGrp="1"/>
          </p:cNvSpPr>
          <p:nvPr/>
        </p:nvSpPr>
        <p:spPr>
          <a:xfrm>
            <a:off x="41625" y="63425"/>
            <a:ext cx="7492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EXISTING SOLUTIONS &amp; DRAWBACKS </a:t>
            </a:r>
          </a:p>
        </p:txBody>
      </p:sp>
    </p:spTree>
    <p:extLst>
      <p:ext uri="{BB962C8B-B14F-4D97-AF65-F5344CB8AC3E}">
        <p14:creationId xmlns:p14="http://schemas.microsoft.com/office/powerpoint/2010/main" val="120238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>
            <a:extLst>
              <a:ext uri="{FF2B5EF4-FFF2-40B4-BE49-F238E27FC236}">
                <a16:creationId xmlns:a16="http://schemas.microsoft.com/office/drawing/2014/main" id="{CDC151FA-6D74-4908-A379-3E1326DAF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28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When a sensor reading exceeds safe limits (SO₂ ≥ 75 ppb or PM2.5 ≥ 35 µg/m³), PlumeTrace executes a five-stage analytical response:</a:t>
            </a:r>
          </a:p>
          <a:p>
            <a:r>
              <a:rPr sz="1350">
                <a:latin typeface="Times New Roman"/>
              </a:rPr>
              <a:t>1. Validate telemetry via Pydantic v2 strict schemas and persist the reading to the SQLite event database.</a:t>
            </a:r>
          </a:p>
          <a:p>
            <a:r>
              <a:rPr sz="1350">
                <a:latin typeface="Times New Roman"/>
              </a:rPr>
              <a:t>2. Broadcast the hazard alert to all connected dashboard clients via SSE and trigger the LangGraph agent state-machine.</a:t>
            </a:r>
          </a:p>
          <a:p>
            <a:r>
              <a:rPr sz="1350">
                <a:latin typeface="Times New Roman"/>
              </a:rPr>
              <a:t>3. Run the 4D PINN inverse solver: evaluate source probability over a spatial grid, fuse with physics-based likelihood, and estimate upstream emission coordinates with uncertainty quantification.</a:t>
            </a:r>
          </a:p>
          <a:p>
            <a:r>
              <a:rPr sz="1350">
                <a:latin typeface="Times New Roman"/>
              </a:rPr>
              <a:t>4. Snap predicted coordinates to the nearest municipal facility using wind-aware scoring, then retrieve compliance history and zoning permits.</a:t>
            </a:r>
          </a:p>
          <a:p>
            <a:r>
              <a:rPr sz="1350">
                <a:latin typeface="Times New Roman"/>
              </a:rPr>
              <a:t>5. Draft a three-paragraph regulatory enforcement warning using RAG-retrieved Clean Air Act guidelines and present it for human-in-the-loop review.</a:t>
            </a:r>
          </a:p>
        </p:txBody>
      </p:sp>
      <p:pic>
        <p:nvPicPr>
          <p:cNvPr id="113" name="Google Shape;105;p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114" name="Google Shape;106;p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pic>
        <p:nvPicPr>
          <p:cNvPr id="115" name="Google Shape;107;p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sp>
        <p:nvSpPr>
          <p:cNvPr id="108" name="Google Shape;108;p6">
            <a:extLst>
              <a:ext uri="{FF2B5EF4-FFF2-40B4-BE49-F238E27FC236}">
                <a16:creationId xmlns:a16="http://schemas.microsoft.com/office/drawing/2014/main" id="{4D8F1A2E-7E48-482B-9BB1-3BB5DA31C06F}"/>
              </a:ext>
            </a:extLst>
          </p:cNvPr>
          <p:cNvSpPr>
            <a:spLocks noGrp="1"/>
          </p:cNvSpPr>
          <p:nvPr/>
        </p:nvSpPr>
        <p:spPr>
          <a:xfrm>
            <a:off x="71350" y="83250"/>
            <a:ext cx="44100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1208831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>
            <a:extLst>
              <a:ext uri="{FF2B5EF4-FFF2-40B4-BE49-F238E27FC236}">
                <a16:creationId xmlns:a16="http://schemas.microsoft.com/office/drawing/2014/main" id="{F8D5AEF7-BD2F-46B6-9A9B-4D3BF68BE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Telemetry path: IoT Sensors → MQTT (city/airquality/+) → FastAPI gmqtt listener → Pydantic v2 validation → SQLite persistence → SSE broadcast → React dashboard.</a:t>
            </a:r>
          </a:p>
          <a:p>
            <a:r>
              <a:rPr sz="1350">
                <a:latin typeface="Times New Roman"/>
              </a:rPr>
              <a:t>Hazard path: Alert triage → Meteorological vector tool → 4D PINN source-inversion bridge (Fourier Residual + physics-fused posterior) → Municipal property registry search → RAG policy retrieval → Compliance report generation → Human-in-the-loop review panel.</a:t>
            </a:r>
          </a:p>
          <a:p>
            <a:r>
              <a:rPr sz="1350">
                <a:latin typeface="Times New Roman"/>
              </a:rPr>
              <a:t>The design is fully asynchronous at every boundary: MQTT ingestion, SSE broadcasting, PINN inference (offloaded to thread pool), and LangGraph agent execution run concurrently without blocking the API server.</a:t>
            </a:r>
          </a:p>
          <a:p>
            <a:r>
              <a:rPr sz="1350">
                <a:latin typeface="Times New Roman"/>
              </a:rPr>
              <a:t>SSE connections feature automatic exponential backoff reconnection (1s → 2s → 4s → max 30s), ensuring the dashboard recovers seamlessly from backend restarts or network interruptions.</a:t>
            </a:r>
          </a:p>
        </p:txBody>
      </p:sp>
      <p:pic>
        <p:nvPicPr>
          <p:cNvPr id="122" name="Google Shape;114;p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123" name="Google Shape;115;p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pic>
        <p:nvPicPr>
          <p:cNvPr id="124" name="Google Shape;116;p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sp>
        <p:nvSpPr>
          <p:cNvPr id="117" name="Google Shape;117;p7">
            <a:extLst>
              <a:ext uri="{FF2B5EF4-FFF2-40B4-BE49-F238E27FC236}">
                <a16:creationId xmlns:a16="http://schemas.microsoft.com/office/drawing/2014/main" id="{8F8167A5-B972-47F2-B53D-1FF317212124}"/>
              </a:ext>
            </a:extLst>
          </p:cNvPr>
          <p:cNvSpPr>
            <a:spLocks noGrp="1"/>
          </p:cNvSpPr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ARCHITECTURE / WORKFLOW</a:t>
            </a:r>
          </a:p>
        </p:txBody>
      </p:sp>
    </p:spTree>
    <p:extLst>
      <p:ext uri="{BB962C8B-B14F-4D97-AF65-F5344CB8AC3E}">
        <p14:creationId xmlns:p14="http://schemas.microsoft.com/office/powerpoint/2010/main" val="1258006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>
            <a:extLst>
              <a:ext uri="{FF2B5EF4-FFF2-40B4-BE49-F238E27FC236}">
                <a16:creationId xmlns:a16="http://schemas.microsoft.com/office/drawing/2014/main" id="{3B20502C-21F1-4559-A72B-D2B286CF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• Neuro-symbolic response loop: deterministic hazard thresholds and municipal registry rules frame AI-generated enforcement text, ensuring legal defensibility.</a:t>
            </a:r>
          </a:p>
          <a:p>
            <a:r>
              <a:rPr sz="1350">
                <a:latin typeface="Times New Roman"/>
              </a:rPr>
              <a:t>• 4D Physics-informed source attribution: the PINN is constrained by ∂C/∂t + u·∂C/∂x + v·∂C/∂y + w·∂C/∂z − Dh·(∂²C/∂x² + ∂²C/∂y²) − Dv·∂²C/∂z² = 0, incorporating vertical transport and altitude-aware sensing.</a:t>
            </a:r>
          </a:p>
          <a:p>
            <a:r>
              <a:rPr sz="1350">
                <a:latin typeface="Times New Roman"/>
              </a:rPr>
              <a:t>• Physics-fused Bayesian posterior: PINN neural prior is multiplied by analytic advection-diffusion likelihood to produce calibrated source probability maps with spatial uncertainty quantification.</a:t>
            </a:r>
          </a:p>
          <a:p>
            <a:r>
              <a:rPr sz="1350">
                <a:latin typeface="Times New Roman"/>
              </a:rPr>
              <a:t>• RAG-augmented legal drafting: enforcement reports are grounded in dynamically retrieved Clean Air Act sections and local municipal zoning codes via TF-IDF vector search.</a:t>
            </a:r>
          </a:p>
          <a:p>
            <a:r>
              <a:rPr sz="1350">
                <a:latin typeface="Times New Roman"/>
              </a:rPr>
              <a:t>• Human-in-the-loop review: operators can approve, reject, or request AI-powered refinements to draft reports before dispatch — maintaining human oversight over autonomous enforcement.</a:t>
            </a:r>
          </a:p>
        </p:txBody>
      </p:sp>
      <p:pic>
        <p:nvPicPr>
          <p:cNvPr id="131" name="Google Shape;123;p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132" name="Google Shape;124;p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pic>
        <p:nvPicPr>
          <p:cNvPr id="133" name="Google Shape;125;p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sp>
        <p:nvSpPr>
          <p:cNvPr id="126" name="Google Shape;126;p8">
            <a:extLst>
              <a:ext uri="{FF2B5EF4-FFF2-40B4-BE49-F238E27FC236}">
                <a16:creationId xmlns:a16="http://schemas.microsoft.com/office/drawing/2014/main" id="{72EDA1CD-49D7-4947-AFDD-184CE8007290}"/>
              </a:ext>
            </a:extLst>
          </p:cNvPr>
          <p:cNvSpPr>
            <a:spLocks noGrp="1"/>
          </p:cNvSpPr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UNIQUENESS / INNOVATION</a:t>
            </a:r>
          </a:p>
        </p:txBody>
      </p:sp>
    </p:spTree>
    <p:extLst>
      <p:ext uri="{BB962C8B-B14F-4D97-AF65-F5344CB8AC3E}">
        <p14:creationId xmlns:p14="http://schemas.microsoft.com/office/powerpoint/2010/main" val="428395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>
            <a:extLst>
              <a:ext uri="{FF2B5EF4-FFF2-40B4-BE49-F238E27FC236}">
                <a16:creationId xmlns:a16="http://schemas.microsoft.com/office/drawing/2014/main" id="{4520C00B-8539-43F4-A266-5A40829F3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 fontScale="92315"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Advantages</a:t>
            </a:r>
          </a:p>
          <a:p>
            <a:r>
              <a:rPr sz="1350">
                <a:latin typeface="Times New Roman"/>
              </a:rPr>
              <a:t>• Sub-second source attribution during municipal hazard events, replacing hours of manual traceback.</a:t>
            </a:r>
          </a:p>
          <a:p>
            <a:r>
              <a:rPr sz="1350">
                <a:latin typeface="Times New Roman"/>
              </a:rPr>
              <a:t>• Complete evidence chain: sensor coordinates → wind vectors → AI inference → registry data → regulatory citation → human approval.</a:t>
            </a:r>
          </a:p>
          <a:p>
            <a:r>
              <a:rPr sz="1350">
                <a:latin typeface="Times New Roman"/>
              </a:rPr>
              <a:t>• Modular architecture: swap SQLite for PostGIS, mock weather for live NOAA APIs, synthetic sensors for real stations.</a:t>
            </a:r>
          </a:p>
          <a:p>
            <a:r>
              <a:rPr sz="1350">
                <a:latin typeface="Times New Roman"/>
              </a:rPr>
              <a:t>• Robust frontend with automatic SSE reconnection and interactive scenario simulator for operator training.</a:t>
            </a:r>
          </a:p>
          <a:p>
            <a:r>
              <a:rPr sz="1350">
                <a:latin typeface="Times New Roman"/>
              </a:rPr>
              <a:t>Limitations</a:t>
            </a:r>
          </a:p>
          <a:p>
            <a:r>
              <a:rPr sz="1350">
                <a:latin typeface="Times New Roman"/>
              </a:rPr>
              <a:t>• Current prototype uses four synthetic sensors and static property records; real deployments require calibration with terrain and boundary-layer data.</a:t>
            </a:r>
          </a:p>
          <a:p>
            <a:r>
              <a:rPr sz="1350">
                <a:latin typeface="Times New Roman"/>
              </a:rPr>
              <a:t>• PINN inference runs on CPU in the demo; production deployments would benefit from GPU acceleration or ONNX compilation for edge hardware.</a:t>
            </a:r>
          </a:p>
        </p:txBody>
      </p:sp>
      <p:pic>
        <p:nvPicPr>
          <p:cNvPr id="140" name="Google Shape;132;p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141" name="Google Shape;133;p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pic>
        <p:nvPicPr>
          <p:cNvPr id="142" name="Google Shape;134;p9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sp>
        <p:nvSpPr>
          <p:cNvPr id="135" name="Google Shape;135;p9">
            <a:extLst>
              <a:ext uri="{FF2B5EF4-FFF2-40B4-BE49-F238E27FC236}">
                <a16:creationId xmlns:a16="http://schemas.microsoft.com/office/drawing/2014/main" id="{1E019B72-AD1C-4406-A3E5-0C50AF6A189E}"/>
              </a:ext>
            </a:extLst>
          </p:cNvPr>
          <p:cNvSpPr>
            <a:spLocks noGrp="1"/>
          </p:cNvSpPr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ADVANTAGES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1318727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>
            <a:extLst>
              <a:ext uri="{FF2B5EF4-FFF2-40B4-BE49-F238E27FC236}">
                <a16:creationId xmlns:a16="http://schemas.microsoft.com/office/drawing/2014/main" id="{8706A255-7104-4C83-8084-152FCDD4B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66800"/>
            <a:ext cx="8334375" cy="319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latin typeface="Times New Roman"/>
              </a:rPr>
              <a:t>PlumeTrace demonstrates a practical smart-city response loop: detect, attribute, document, and escalate — all within seconds of a hazardous air quality event.</a:t>
            </a:r>
          </a:p>
          <a:p>
            <a:r>
              <a:rPr sz="1350">
                <a:latin typeface="Times New Roman"/>
              </a:rPr>
              <a:t>The prototype runs end-to-end: MQTT telemetry ingestion → 4D PINN inverse dispersion → LangGraph agent orchestration → RAG-augmented enforcement drafting → human-in-the-loop review — verified with live sensor streams and browser-rendered compliance reports.</a:t>
            </a:r>
          </a:p>
          <a:p>
            <a:r>
              <a:rPr sz="1350">
                <a:latin typeface="Times New Roman"/>
              </a:rPr>
              <a:t>Next milestones: live NOAA meteorological APIs, multi-pollutant cross-correlation (SO₂ + VOC fingerprinting), ONNX/TensorRT edge compilation, PostGIS spatial database, and a mobile field-verification companion app.</a:t>
            </a:r>
          </a:p>
        </p:txBody>
      </p:sp>
      <p:pic>
        <p:nvPicPr>
          <p:cNvPr id="150" name="Google Shape;141;p1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151" name="Google Shape;142;p1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pic>
        <p:nvPicPr>
          <p:cNvPr id="152" name="Google Shape;143;p10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ln>
            <a:noFill/>
          </a:ln>
        </p:spPr>
      </p:pic>
      <p:sp>
        <p:nvSpPr>
          <p:cNvPr id="144" name="Google Shape;144;p10">
            <a:extLst>
              <a:ext uri="{FF2B5EF4-FFF2-40B4-BE49-F238E27FC236}">
                <a16:creationId xmlns:a16="http://schemas.microsoft.com/office/drawing/2014/main" id="{8D2C8C09-6680-4084-AA5A-D6EB2455B864}"/>
              </a:ext>
            </a:extLst>
          </p:cNvPr>
          <p:cNvSpPr>
            <a:spLocks noGrp="1"/>
          </p:cNvSpPr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">
            <a:extLst>
              <a:ext uri="{FF2B5EF4-FFF2-40B4-BE49-F238E27FC236}">
                <a16:creationId xmlns:a16="http://schemas.microsoft.com/office/drawing/2014/main" id="{4224717E-4A5D-4F1E-A4A6-D64B1A15F566}"/>
              </a:ext>
            </a:extLst>
          </p:cNvPr>
          <p:cNvSpPr>
            <a:spLocks noGrp="1"/>
          </p:cNvSpPr>
          <p:nvPr/>
        </p:nvSpPr>
        <p:spPr>
          <a:xfrm>
            <a:off x="152400" y="1524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30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181779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>
            <a:extLst>
              <a:ext uri="{FF2B5EF4-FFF2-40B4-BE49-F238E27FC236}">
                <a16:creationId xmlns:a16="http://schemas.microsoft.com/office/drawing/2014/main" id="{C2AAA7C8-5139-44EE-B109-E429ABE8A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028700"/>
            <a:ext cx="8334375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0">
                <a:latin typeface="Times New Roman"/>
              </a:rPr>
              <a:t>Implemented prototype artifacts</a:t>
            </a:r>
          </a:p>
          <a:p>
            <a:r>
              <a:rPr sz="1160">
                <a:latin typeface="Times New Roman"/>
              </a:rPr>
              <a:t>• backend/app/main.py, mqtt_handler.py, sse_manager.py, models.py, schemas.py, rag_engine.py, database.py, config.py</a:t>
            </a:r>
          </a:p>
          <a:p>
            <a:r>
              <a:rPr sz="1160">
                <a:latin typeface="Times New Roman"/>
              </a:rPr>
              <a:t>• pinn_engine.py — 4D Fourier Residual PINN with SoftAdapt adaptive loss weighting and Sobol collocation</a:t>
            </a:r>
          </a:p>
          <a:p>
            <a:r>
              <a:rPr sz="1160">
                <a:latin typeface="Times New Roman"/>
              </a:rPr>
              <a:t>• agent_orchestrator.py — LangGraph state-machine with 6 nodes: triage, weather, PINN bridge, registry, RAG, report</a:t>
            </a:r>
          </a:p>
          <a:p>
            <a:r>
              <a:rPr sz="1160">
                <a:latin typeface="Times New Roman"/>
              </a:rPr>
              <a:t>• frontend/src/components/MapEngine.tsx, SidebarLogs.tsx — SSE with exponential backoff, scenario simulator</a:t>
            </a:r>
          </a:p>
          <a:p>
            <a:r>
              <a:rPr sz="1160">
                <a:latin typeface="Times New Roman"/>
              </a:rPr>
              <a:t>• pinn/config.py, pinn/utils.py, pinn/tune.py — Optuna hyperparameter optimization framework</a:t>
            </a:r>
          </a:p>
          <a:p>
            <a:r>
              <a:rPr sz="1160">
                <a:latin typeface="Times New Roman"/>
              </a:rPr>
              <a:t>Technical references</a:t>
            </a:r>
          </a:p>
          <a:p>
            <a:r>
              <a:rPr sz="1160">
                <a:latin typeface="Times New Roman"/>
              </a:rPr>
              <a:t>• FastAPI, gmqtt, amqtt, SQLAlchemy asyncio, PyTorch autograd + Sobol, LangGraph/LangChain, react-map-gl/MapLibre GL, Optuna, Pydantic v2</a:t>
            </a:r>
          </a:p>
        </p:txBody>
      </p:sp>
      <p:pic>
        <p:nvPicPr>
          <p:cNvPr id="159" name="Google Shape;151;p1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ln>
            <a:noFill/>
          </a:ln>
        </p:spPr>
      </p:pic>
      <p:pic>
        <p:nvPicPr>
          <p:cNvPr id="160" name="Google Shape;152;p1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47300" y="431600"/>
            <a:ext cx="256675" cy="9167125"/>
          </a:xfrm>
          <a:prstGeom prst="rect">
            <a:avLst/>
          </a:prstGeom>
          <a:ln>
            <a:noFill/>
          </a:ln>
        </p:spPr>
      </p:pic>
      <p:pic>
        <p:nvPicPr>
          <p:cNvPr id="161" name="Google Shape;153;p1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ln>
            <a:noFill/>
          </a:ln>
        </p:spPr>
      </p:pic>
      <p:sp>
        <p:nvSpPr>
          <p:cNvPr id="154" name="Google Shape;154;p11">
            <a:extLst>
              <a:ext uri="{FF2B5EF4-FFF2-40B4-BE49-F238E27FC236}">
                <a16:creationId xmlns:a16="http://schemas.microsoft.com/office/drawing/2014/main" id="{FF6C1C98-F265-4ABE-9BFA-1E2108A54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50" y="0"/>
            <a:ext cx="29421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/>
          <a:p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61039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</Words>
  <Application>Microsoft Office PowerPoint</Application>
  <DocSecurity>0</DocSecurity>
  <PresentationFormat>On-screen Show (16:9)</PresentationFormat>
  <Paragraphs>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Simple Light</vt:lpstr>
      <vt:lpstr>PlumeTrace</vt:lpstr>
      <vt:lpstr>PROBLEM  STATEMENT</vt:lpstr>
      <vt:lpstr>ABSTRACT</vt:lpstr>
      <vt:lpstr>Backend: FastAPI, gmqtt, async SQLAlchemy, SQLite, Pydantic v2, WebSockets. Streaming: Eclipse Mosquitto for deployment, plus local amqtt fallback for development tests. AI/ML: PyTorch PINN with data loss plus physics residual loss over 2,000 collocation points. Agents: LangGraph, LangChain tools, and OpenAI/Anthropic-ready compliance report wrappers. Frontend: Next.js App Router, TailwindCSS, react-map-gl, WebSocket telemetry, Mapbox/CARTO dark map fallback. Operations: typed settings, structured logging, robust error handling, and modular service boundaries.</vt:lpstr>
      <vt:lpstr>Current air-quality response tools leave a gap between detection and defensible attribution. - Fixed monitoring dashboards show that pollution happened, but rarely prove who caused it. - Offline dispersion studies can be accurate, but they are too slow for incident triage. - Generic AI alerts lack physical constraints, making source claims difficult to defend. - Manual property-map checks create inconsistent evidence trails. PlumeTrace joins live streams, physics-informed inversion, municipal records, and report drafting in one auditable workflow.</vt:lpstr>
      <vt:lpstr>PlumeTrace intercepts critical SO2 or PM2.5 spikes and turns them into an evidence-backed municipal response. 1. Validate telemetry and persist the reading. 2. Broadcast the hazard to the dashboard in real time. 3. Use wind-aware inverse dispersion to estimate an upstream source coordinate. 4. Match the coordinate to a municipal facility profile and compliance history. 5. Draft a three-paragraph regulatory warning for human review.</vt:lpstr>
      <vt:lpstr>Telemetry path: Sensors -&gt; MQTT city/airquality/+ -&gt; FastAPI listener -&gt; Pydantic validation -&gt; SQLite history -&gt; WebSocket /ws/plume -&gt; Next.js map. Hazard path: alert triage -&gt; weather-vector tool -&gt; PINN source-inversion bridge -&gt; property registry search -&gt; compliance report generator. The design is asynchronous at every boundary, so ingestion, visualization, and analytical response can run without blocking one another. Local end-to-end verification confirmed broker connectivity, live mock sensor publishing, REST history, WebSocket packets, dashboard rendering, and agent report generation.</vt:lpstr>
      <vt:lpstr>- Neuro-symbolic response loop: deterministic hazard thresholds and registry rules frame AI-generated enforcement text. - Physics-informed source attribution: the model is constrained by dC/dt + u*dC/dx + v*dC/dy - D*(d2C/dx2 + d2C/dy2) = 0. - Real-time forensic map: live markers, warning beacons, upstream plume trace, suspected source icon, and sensor popups share one canvas. - Resilient demo path: Mapbox token is optional because the dashboard falls back to a tokenless dark raster style. - Auditability: reports cite sensor coordinates, meteorological alignment, confidence, facility ownership, permits, and infractions.</vt:lpstr>
      <vt:lpstr>Advantages - Faster source attribution during municipal hazard events. - Shared evidence trail across telemetry, wind, AI inference, registry data, and report text. - Modular services can swap SQLite for PostGIS, mock weather for live APIs, and synthetic sensors for real stations. - Browser-verified dashboard and API smoke tests are passing. Limitations - Current prototype uses synthetic sensors and static property records. - PINN output must be calibrated with real terrain, boundary-layer, and historical sensor data before regulatory production use.</vt:lpstr>
      <vt:lpstr>PlumeTrace demonstrates a practical smart-city response loop: detect, attribute, document, and escalate. The current prototype is running end to end across MQTT telemetry, FastAPI ingestion, WebSocket dashboard updates, REST history, PINN source-inversion code, LangGraph orchestration, and browser-generated compliance reports. Next milestones are live meteorological APIs, parcel GIS integration, real sensor calibration, PostGIS deployment, and an operator approval workflow for official notices.</vt:lpstr>
      <vt:lpstr>Implemented prototype artifacts - backend/app/main.py, mqtt_handler.py, websocket_manager.py, models.py, schemas.py - backend/mock_sensors.py and docker-compose.yml for MQTT-based telemetry simulation - pinn_engine.py for physics-informed inverse-dispersion training and source probability maps - agent_orchestrator.py for LangGraph alert-response automation - frontend/src/app/page.tsx, MapEngine.tsx, SidebarLogs.tsx for the live dashboard Technical references - FastAPI, MQTT, WebSockets, SQLAlchemy asyncio, PyTorch autograd, LangGraph/LangChain, react-map-gl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SUDARSHAN AJOY SINDHU</cp:lastModifiedBy>
  <cp:revision>1</cp:revision>
  <dcterms:created xsi:type="dcterms:W3CDTF">2026-07-09T04:39:37Z</dcterms:created>
  <dcterms:modified xsi:type="dcterms:W3CDTF">2026-07-15T16:23:24Z</dcterms:modified>
</cp:coreProperties>
</file>