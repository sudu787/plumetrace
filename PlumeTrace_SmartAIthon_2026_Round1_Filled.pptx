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7adaa6d49046f4" /><Relationship Type="http://schemas.openxmlformats.org/officeDocument/2006/relationships/extended-properties" Target="/docProps/app.xml" Id="Re4ff0fb0da7f4645" /><Relationship Type="http://schemas.openxmlformats.org/officeDocument/2006/relationships/officeDocument" Target="/ppt/presentation.xml" Id="R57164e3c70ee45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398dc036734f2f"/>
  </p:sldMasterIdLst>
  <p:notesMasterIdLst>
    <p:notesMasterId xmlns:r="http://schemas.openxmlformats.org/officeDocument/2006/relationships" r:id="R792d26e014aa44ad"/>
  </p:notesMasterIdLst>
  <p:sldIdLst>
    <p:sldId xmlns:r="http://schemas.openxmlformats.org/officeDocument/2006/relationships" id="256" r:id="Rd0d180be3bf84e55"/>
    <p:sldId xmlns:r="http://schemas.openxmlformats.org/officeDocument/2006/relationships" id="257" r:id="Re988e93c4158441d"/>
    <p:sldId xmlns:r="http://schemas.openxmlformats.org/officeDocument/2006/relationships" id="258" r:id="Ra5d2776d0be44226"/>
    <p:sldId xmlns:r="http://schemas.openxmlformats.org/officeDocument/2006/relationships" id="259" r:id="R45c5abeaea884e44"/>
    <p:sldId xmlns:r="http://schemas.openxmlformats.org/officeDocument/2006/relationships" id="260" r:id="Rea25ba5b473e463e"/>
    <p:sldId xmlns:r="http://schemas.openxmlformats.org/officeDocument/2006/relationships" id="261" r:id="R0c6a8812a6a54793"/>
    <p:sldId xmlns:r="http://schemas.openxmlformats.org/officeDocument/2006/relationships" id="262" r:id="R653ee1d463b247df"/>
    <p:sldId xmlns:r="http://schemas.openxmlformats.org/officeDocument/2006/relationships" id="263" r:id="R0e81cfc29c444fd1"/>
    <p:sldId xmlns:r="http://schemas.openxmlformats.org/officeDocument/2006/relationships" id="264" r:id="R497c32c5cce14a83"/>
    <p:sldId xmlns:r="http://schemas.openxmlformats.org/officeDocument/2006/relationships" id="265" r:id="R94c177a26d6d431b"/>
    <p:sldId xmlns:r="http://schemas.openxmlformats.org/officeDocument/2006/relationships" id="266" r:id="Re85eafed21cf482e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967652041243a6" /><Relationship Type="http://schemas.openxmlformats.org/officeDocument/2006/relationships/slideMaster" Target="/ppt/slideMasters/slideMaster1.xml" Id="R18398dc036734f2f" /><Relationship Type="http://schemas.openxmlformats.org/officeDocument/2006/relationships/notesMaster" Target="/ppt/notesMasters/notesMaster1.xml" Id="R792d26e014aa44ad" /><Relationship Type="http://schemas.openxmlformats.org/officeDocument/2006/relationships/presProps" Target="/ppt/presProps.xml" Id="R8a243ec892ae4842" /><Relationship Type="http://schemas.openxmlformats.org/officeDocument/2006/relationships/tableStyles" Target="/ppt/tableStyles.xml" Id="Rd830e6eceb5d40f8" /><Relationship Type="http://schemas.openxmlformats.org/officeDocument/2006/relationships/slide" Target="/ppt/slides/slide1.xml" Id="Rd0d180be3bf84e55" /><Relationship Type="http://schemas.openxmlformats.org/officeDocument/2006/relationships/slide" Target="/ppt/slides/slide2.xml" Id="Re988e93c4158441d" /><Relationship Type="http://schemas.openxmlformats.org/officeDocument/2006/relationships/slide" Target="/ppt/slides/slide3.xml" Id="Ra5d2776d0be44226" /><Relationship Type="http://schemas.openxmlformats.org/officeDocument/2006/relationships/slide" Target="/ppt/slides/slide4.xml" Id="R45c5abeaea884e44" /><Relationship Type="http://schemas.openxmlformats.org/officeDocument/2006/relationships/slide" Target="/ppt/slides/slide5.xml" Id="Rea25ba5b473e463e" /><Relationship Type="http://schemas.openxmlformats.org/officeDocument/2006/relationships/slide" Target="/ppt/slides/slide6.xml" Id="R0c6a8812a6a54793" /><Relationship Type="http://schemas.openxmlformats.org/officeDocument/2006/relationships/slide" Target="/ppt/slides/slide7.xml" Id="R653ee1d463b247df" /><Relationship Type="http://schemas.openxmlformats.org/officeDocument/2006/relationships/slide" Target="/ppt/slides/slide8.xml" Id="R0e81cfc29c444fd1" /><Relationship Type="http://schemas.openxmlformats.org/officeDocument/2006/relationships/slide" Target="/ppt/slides/slide9.xml" Id="R497c32c5cce14a83" /><Relationship Type="http://schemas.openxmlformats.org/officeDocument/2006/relationships/slide" Target="/ppt/slides/slide10.xml" Id="R94c177a26d6d431b" /><Relationship Type="http://schemas.openxmlformats.org/officeDocument/2006/relationships/slide" Target="/ppt/slides/slide11.xml" Id="Re85eafed21cf48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d4a3a0158741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449d169e754297" /><Relationship Type="http://schemas.openxmlformats.org/officeDocument/2006/relationships/notesMaster" Target="/ppt/notesMasters/notesMaster1.xml" Id="R7d2965bff77e40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dce7ab25f54429" /><Relationship Type="http://schemas.openxmlformats.org/officeDocument/2006/relationships/notesMaster" Target="/ppt/notesMasters/notesMaster1.xml" Id="Rf13fc794038541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2ebd5894f14cb8" /><Relationship Type="http://schemas.openxmlformats.org/officeDocument/2006/relationships/notesMaster" Target="/ppt/notesMasters/notesMaster1.xml" Id="R5b4302d0764742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2837cc0ac84dc9" /><Relationship Type="http://schemas.openxmlformats.org/officeDocument/2006/relationships/notesMaster" Target="/ppt/notesMasters/notesMaster1.xml" Id="R4c25f7e2af2e43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c9c9e2c5cd4ca1" /><Relationship Type="http://schemas.openxmlformats.org/officeDocument/2006/relationships/notesMaster" Target="/ppt/notesMasters/notesMaster1.xml" Id="Rae2e092074fa46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fbea0a530b4664" /><Relationship Type="http://schemas.openxmlformats.org/officeDocument/2006/relationships/notesMaster" Target="/ppt/notesMasters/notesMaster1.xml" Id="Rfce6c3ee79de45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8e26ed7e9d43b7" /><Relationship Type="http://schemas.openxmlformats.org/officeDocument/2006/relationships/notesMaster" Target="/ppt/notesMasters/notesMaster1.xml" Id="Ra699c9490f8b42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f9197ca5254903" /><Relationship Type="http://schemas.openxmlformats.org/officeDocument/2006/relationships/notesMaster" Target="/ppt/notesMasters/notesMaster1.xml" Id="Rb3751fe2fad34e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6d6d2b19324caf" /><Relationship Type="http://schemas.openxmlformats.org/officeDocument/2006/relationships/notesMaster" Target="/ppt/notesMasters/notesMaster1.xml" Id="R0688a895a14d49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834abc893640d1" /><Relationship Type="http://schemas.openxmlformats.org/officeDocument/2006/relationships/notesMaster" Target="/ppt/notesMasters/notesMaster1.xml" Id="R088e363f4e234b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692df3e61e4583" /><Relationship Type="http://schemas.openxmlformats.org/officeDocument/2006/relationships/notesMaster" Target="/ppt/notesMasters/notesMaster1.xml" Id="R39bd369deada4c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d761398cb48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760d5ee3a41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f716f2c894c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80ad08f4d47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dbe7e10bb149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83244e019947b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4f02e82eb424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1dd8056be4d0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43f04df2d2497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bec073f9f4fa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cda8fbafe42a9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3">
            <a:extLst xmlns:a="http://schemas.openxmlformats.org/drawingml/2006/main">
              <a:ext uri="{FF2B5EF4-FFF2-40B4-BE49-F238E27FC236}">
                <a16:creationId xmlns:a16="http://schemas.microsoft.com/office/drawing/2014/main" id="{CE6C03E0-B54B-4CFD-8F2F-BFFCB216526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13">
            <a:extLst xmlns:a="http://schemas.openxmlformats.org/drawingml/2006/main">
              <a:ext uri="{FF2B5EF4-FFF2-40B4-BE49-F238E27FC236}">
                <a16:creationId xmlns:a16="http://schemas.microsoft.com/office/drawing/2014/main" id="{EFD78EEE-1C75-46B9-ABE5-3824B57611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13">
            <a:extLst xmlns:a="http://schemas.openxmlformats.org/drawingml/2006/main">
              <a:ext uri="{FF2B5EF4-FFF2-40B4-BE49-F238E27FC236}">
                <a16:creationId xmlns:a16="http://schemas.microsoft.com/office/drawing/2014/main" id="{D8E1A403-AD8F-41C7-BF14-6E67559D92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14">
            <a:extLst xmlns:a="http://schemas.openxmlformats.org/drawingml/2006/main">
              <a:ext uri="{FF2B5EF4-FFF2-40B4-BE49-F238E27FC236}">
                <a16:creationId xmlns:a16="http://schemas.microsoft.com/office/drawing/2014/main" id="{0F180DBD-2256-4BE0-ACAB-2C7162A5BA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14">
            <a:extLst xmlns:a="http://schemas.openxmlformats.org/drawingml/2006/main">
              <a:ext uri="{FF2B5EF4-FFF2-40B4-BE49-F238E27FC236}">
                <a16:creationId xmlns:a16="http://schemas.microsoft.com/office/drawing/2014/main" id="{ED0FE118-D39D-47DE-AD2B-610BDD32A8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15">
            <a:extLst xmlns:a="http://schemas.openxmlformats.org/drawingml/2006/main">
              <a:ext uri="{FF2B5EF4-FFF2-40B4-BE49-F238E27FC236}">
                <a16:creationId xmlns:a16="http://schemas.microsoft.com/office/drawing/2014/main" id="{F06635B6-3D1E-443A-A5D5-16CD07831C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15">
            <a:extLst xmlns:a="http://schemas.openxmlformats.org/drawingml/2006/main">
              <a:ext uri="{FF2B5EF4-FFF2-40B4-BE49-F238E27FC236}">
                <a16:creationId xmlns:a16="http://schemas.microsoft.com/office/drawing/2014/main" id="{45BF2C98-BA9C-4AAC-99DF-09080B57D7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15">
            <a:extLst xmlns:a="http://schemas.openxmlformats.org/drawingml/2006/main">
              <a:ext uri="{FF2B5EF4-FFF2-40B4-BE49-F238E27FC236}">
                <a16:creationId xmlns:a16="http://schemas.microsoft.com/office/drawing/2014/main" id="{28DEC30F-D2DA-439D-9A64-285C034FD2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16">
            <a:extLst xmlns:a="http://schemas.openxmlformats.org/drawingml/2006/main">
              <a:ext uri="{FF2B5EF4-FFF2-40B4-BE49-F238E27FC236}">
                <a16:creationId xmlns:a16="http://schemas.microsoft.com/office/drawing/2014/main" id="{C4D92EA3-93A4-486A-82B1-0365C7E151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16">
            <a:extLst xmlns:a="http://schemas.openxmlformats.org/drawingml/2006/main">
              <a:ext uri="{FF2B5EF4-FFF2-40B4-BE49-F238E27FC236}">
                <a16:creationId xmlns:a16="http://schemas.microsoft.com/office/drawing/2014/main" id="{0B9CF809-D6AA-49C3-92DF-67E5084FE1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16">
            <a:extLst xmlns:a="http://schemas.openxmlformats.org/drawingml/2006/main">
              <a:ext uri="{FF2B5EF4-FFF2-40B4-BE49-F238E27FC236}">
                <a16:creationId xmlns:a16="http://schemas.microsoft.com/office/drawing/2014/main" id="{C9B7CB11-77B4-44D6-9F70-596092F8D9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16">
            <a:extLst xmlns:a="http://schemas.openxmlformats.org/drawingml/2006/main">
              <a:ext uri="{FF2B5EF4-FFF2-40B4-BE49-F238E27FC236}">
                <a16:creationId xmlns:a16="http://schemas.microsoft.com/office/drawing/2014/main" id="{A6405E5E-D0C7-4716-9396-BDA769A272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17">
            <a:extLst xmlns:a="http://schemas.openxmlformats.org/drawingml/2006/main">
              <a:ext uri="{FF2B5EF4-FFF2-40B4-BE49-F238E27FC236}">
                <a16:creationId xmlns:a16="http://schemas.microsoft.com/office/drawing/2014/main" id="{73E479D1-C3C8-421C-BD99-4FD6D63A4F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17">
            <a:extLst xmlns:a="http://schemas.openxmlformats.org/drawingml/2006/main">
              <a:ext uri="{FF2B5EF4-FFF2-40B4-BE49-F238E27FC236}">
                <a16:creationId xmlns:a16="http://schemas.microsoft.com/office/drawing/2014/main" id="{BB100BA9-3278-49AF-8DEA-C9B1503215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8">
            <a:extLst xmlns:a="http://schemas.openxmlformats.org/drawingml/2006/main">
              <a:ext uri="{FF2B5EF4-FFF2-40B4-BE49-F238E27FC236}">
                <a16:creationId xmlns:a16="http://schemas.microsoft.com/office/drawing/2014/main" id="{B86DB506-755E-4803-ACE7-5D5692D008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18">
            <a:extLst xmlns:a="http://schemas.openxmlformats.org/drawingml/2006/main">
              <a:ext uri="{FF2B5EF4-FFF2-40B4-BE49-F238E27FC236}">
                <a16:creationId xmlns:a16="http://schemas.microsoft.com/office/drawing/2014/main" id="{781CAFCA-EC31-4787-AE7A-AA2E551BB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18">
            <a:extLst xmlns:a="http://schemas.openxmlformats.org/drawingml/2006/main">
              <a:ext uri="{FF2B5EF4-FFF2-40B4-BE49-F238E27FC236}">
                <a16:creationId xmlns:a16="http://schemas.microsoft.com/office/drawing/2014/main" id="{060F9B0B-FA9F-4F54-864F-2F7DBFE119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9">
            <a:extLst xmlns:a="http://schemas.openxmlformats.org/drawingml/2006/main">
              <a:ext uri="{FF2B5EF4-FFF2-40B4-BE49-F238E27FC236}">
                <a16:creationId xmlns:a16="http://schemas.microsoft.com/office/drawing/2014/main" id="{D0C02E67-DD4D-4179-8399-131DAA5003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19">
            <a:extLst xmlns:a="http://schemas.openxmlformats.org/drawingml/2006/main">
              <a:ext uri="{FF2B5EF4-FFF2-40B4-BE49-F238E27FC236}">
                <a16:creationId xmlns:a16="http://schemas.microsoft.com/office/drawing/2014/main" id="{AC61AA5F-22A1-4803-A70E-4F7AA43AE2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20">
            <a:extLst xmlns:a="http://schemas.openxmlformats.org/drawingml/2006/main">
              <a:ext uri="{FF2B5EF4-FFF2-40B4-BE49-F238E27FC236}">
                <a16:creationId xmlns:a16="http://schemas.microsoft.com/office/drawing/2014/main" id="{44578080-2353-4E9B-994E-05EE97B9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" name="Google Shape;37;p20">
            <a:extLst xmlns:a="http://schemas.openxmlformats.org/drawingml/2006/main">
              <a:ext uri="{FF2B5EF4-FFF2-40B4-BE49-F238E27FC236}">
                <a16:creationId xmlns:a16="http://schemas.microsoft.com/office/drawing/2014/main" id="{69FE6051-7F89-4EF5-BB37-78505840D9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20">
            <a:extLst xmlns:a="http://schemas.openxmlformats.org/drawingml/2006/main">
              <a:ext uri="{FF2B5EF4-FFF2-40B4-BE49-F238E27FC236}">
                <a16:creationId xmlns:a16="http://schemas.microsoft.com/office/drawing/2014/main" id="{B1FAE585-A3EE-4642-8D41-7941332A17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20">
            <a:extLst xmlns:a="http://schemas.openxmlformats.org/drawingml/2006/main">
              <a:ext uri="{FF2B5EF4-FFF2-40B4-BE49-F238E27FC236}">
                <a16:creationId xmlns:a16="http://schemas.microsoft.com/office/drawing/2014/main" id="{76AAC072-694D-4851-92BD-B941061668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20">
            <a:extLst xmlns:a="http://schemas.openxmlformats.org/drawingml/2006/main">
              <a:ext uri="{FF2B5EF4-FFF2-40B4-BE49-F238E27FC236}">
                <a16:creationId xmlns:a16="http://schemas.microsoft.com/office/drawing/2014/main" id="{9C953D42-A22C-45FE-822E-656F567017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21">
            <a:extLst xmlns:a="http://schemas.openxmlformats.org/drawingml/2006/main">
              <a:ext uri="{FF2B5EF4-FFF2-40B4-BE49-F238E27FC236}">
                <a16:creationId xmlns:a16="http://schemas.microsoft.com/office/drawing/2014/main" id="{5D5C5588-5B35-4989-90A1-5C77F23135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21">
            <a:extLst xmlns:a="http://schemas.openxmlformats.org/drawingml/2006/main">
              <a:ext uri="{FF2B5EF4-FFF2-40B4-BE49-F238E27FC236}">
                <a16:creationId xmlns:a16="http://schemas.microsoft.com/office/drawing/2014/main" id="{89D8F396-D057-443F-80C4-F721514B00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22">
            <a:extLst xmlns:a="http://schemas.openxmlformats.org/drawingml/2006/main">
              <a:ext uri="{FF2B5EF4-FFF2-40B4-BE49-F238E27FC236}">
                <a16:creationId xmlns:a16="http://schemas.microsoft.com/office/drawing/2014/main" id="{77C064FE-24C3-45D8-B3D1-72AEE0C5770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22">
            <a:extLst xmlns:a="http://schemas.openxmlformats.org/drawingml/2006/main">
              <a:ext uri="{FF2B5EF4-FFF2-40B4-BE49-F238E27FC236}">
                <a16:creationId xmlns:a16="http://schemas.microsoft.com/office/drawing/2014/main" id="{3CEEBE26-1C23-4726-9D58-1FC1859BE5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22">
            <a:extLst xmlns:a="http://schemas.openxmlformats.org/drawingml/2006/main">
              <a:ext uri="{FF2B5EF4-FFF2-40B4-BE49-F238E27FC236}">
                <a16:creationId xmlns:a16="http://schemas.microsoft.com/office/drawing/2014/main" id="{C49B1F2A-157F-481B-8938-DE3BBEBA4C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23">
            <a:extLst xmlns:a="http://schemas.openxmlformats.org/drawingml/2006/main">
              <a:ext uri="{FF2B5EF4-FFF2-40B4-BE49-F238E27FC236}">
                <a16:creationId xmlns:a16="http://schemas.microsoft.com/office/drawing/2014/main" id="{18F95E9E-BEFE-4DA4-862B-6F4AA8133A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1e077141aa484a" /><Relationship Type="http://schemas.openxmlformats.org/officeDocument/2006/relationships/slideLayout" Target="/ppt/slideLayouts/slideLayout1.xml" Id="R23a1fc3b74f4424f" /><Relationship Type="http://schemas.openxmlformats.org/officeDocument/2006/relationships/slideLayout" Target="/ppt/slideLayouts/slideLayout2.xml" Id="Rdbaabb62f067478f" /><Relationship Type="http://schemas.openxmlformats.org/officeDocument/2006/relationships/slideLayout" Target="/ppt/slideLayouts/slideLayout3.xml" Id="Rb090ef7c7a0a40dd" /><Relationship Type="http://schemas.openxmlformats.org/officeDocument/2006/relationships/slideLayout" Target="/ppt/slideLayouts/slideLayout4.xml" Id="R5a43669374424ee0" /><Relationship Type="http://schemas.openxmlformats.org/officeDocument/2006/relationships/slideLayout" Target="/ppt/slideLayouts/slideLayout5.xml" Id="Rd030e9ba099b4598" /><Relationship Type="http://schemas.openxmlformats.org/officeDocument/2006/relationships/slideLayout" Target="/ppt/slideLayouts/slideLayout6.xml" Id="R64a0854d019c4031" /><Relationship Type="http://schemas.openxmlformats.org/officeDocument/2006/relationships/slideLayout" Target="/ppt/slideLayouts/slideLayout7.xml" Id="R2c8346b5f5874511" /><Relationship Type="http://schemas.openxmlformats.org/officeDocument/2006/relationships/slideLayout" Target="/ppt/slideLayouts/slideLayout8.xml" Id="Rf08e8ade41924c9a" /><Relationship Type="http://schemas.openxmlformats.org/officeDocument/2006/relationships/slideLayout" Target="/ppt/slideLayouts/slideLayout9.xml" Id="Re1957631819d4f5e" /><Relationship Type="http://schemas.openxmlformats.org/officeDocument/2006/relationships/slideLayout" Target="/ppt/slideLayouts/slideLayout10.xml" Id="R53f3a63cc3f64ee1" /><Relationship Type="http://schemas.openxmlformats.org/officeDocument/2006/relationships/slideLayout" Target="/ppt/slideLayouts/slideLayout11.xml" Id="Rf6193eac02a34402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2">
            <a:extLst xmlns:a="http://schemas.openxmlformats.org/drawingml/2006/main">
              <a:ext uri="{FF2B5EF4-FFF2-40B4-BE49-F238E27FC236}">
                <a16:creationId xmlns:a16="http://schemas.microsoft.com/office/drawing/2014/main" id="{9737D93A-C98F-43C6-845B-D11BD9A8D8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12">
            <a:extLst xmlns:a="http://schemas.openxmlformats.org/drawingml/2006/main">
              <a:ext uri="{FF2B5EF4-FFF2-40B4-BE49-F238E27FC236}">
                <a16:creationId xmlns:a16="http://schemas.microsoft.com/office/drawing/2014/main" id="{92A60A65-A3EA-49D7-AC7A-6A66CC5B2F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Google Shape;8;p12">
            <a:extLst xmlns:a="http://schemas.openxmlformats.org/drawingml/2006/main">
              <a:ext uri="{FF2B5EF4-FFF2-40B4-BE49-F238E27FC236}">
                <a16:creationId xmlns:a16="http://schemas.microsoft.com/office/drawing/2014/main" id="{06DB912B-15F7-4D5E-9692-B804F2858C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a1fc3b74f4424f"/>
    <p:sldLayoutId xmlns:r="http://schemas.openxmlformats.org/officeDocument/2006/relationships" id="2147483650" r:id="Rdbaabb62f067478f"/>
    <p:sldLayoutId xmlns:r="http://schemas.openxmlformats.org/officeDocument/2006/relationships" id="2147483651" r:id="Rb090ef7c7a0a40dd"/>
    <p:sldLayoutId xmlns:r="http://schemas.openxmlformats.org/officeDocument/2006/relationships" id="2147483652" r:id="R5a43669374424ee0"/>
    <p:sldLayoutId xmlns:r="http://schemas.openxmlformats.org/officeDocument/2006/relationships" id="2147483653" r:id="Rd030e9ba099b4598"/>
    <p:sldLayoutId xmlns:r="http://schemas.openxmlformats.org/officeDocument/2006/relationships" id="2147483654" r:id="R64a0854d019c4031"/>
    <p:sldLayoutId xmlns:r="http://schemas.openxmlformats.org/officeDocument/2006/relationships" id="2147483655" r:id="R2c8346b5f5874511"/>
    <p:sldLayoutId xmlns:r="http://schemas.openxmlformats.org/officeDocument/2006/relationships" id="2147483656" r:id="Rf08e8ade41924c9a"/>
    <p:sldLayoutId xmlns:r="http://schemas.openxmlformats.org/officeDocument/2006/relationships" id="2147483657" r:id="Re1957631819d4f5e"/>
    <p:sldLayoutId xmlns:r="http://schemas.openxmlformats.org/officeDocument/2006/relationships" id="2147483658" r:id="R53f3a63cc3f64ee1"/>
    <p:sldLayoutId xmlns:r="http://schemas.openxmlformats.org/officeDocument/2006/relationships" id="2147483659" r:id="Rf6193eac02a34402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6b343e7544cd2" /><Relationship Type="http://schemas.openxmlformats.org/officeDocument/2006/relationships/image" Target="/ppt/media/image.png" Id="R9a91e712d3904729" /><Relationship Type="http://schemas.openxmlformats.org/officeDocument/2006/relationships/image" Target="/ppt/media/image2.png" Id="Re14f112df5f84049" /><Relationship Type="http://schemas.openxmlformats.org/officeDocument/2006/relationships/image" Target="/ppt/media/image3.png" Id="R573541ba9ef24327" /><Relationship Type="http://schemas.openxmlformats.org/officeDocument/2006/relationships/image" Target="/ppt/media/image4.png" Id="R56f6e48f59c24ffd" /><Relationship Type="http://schemas.openxmlformats.org/officeDocument/2006/relationships/image" Target="/ppt/media/image5.png" Id="Re1ad8589c5ac4467" /><Relationship Type="http://schemas.openxmlformats.org/officeDocument/2006/relationships/image" Target="/ppt/media/image6.png" Id="Ra1d2fb7a6a84409b" /><Relationship Type="http://schemas.openxmlformats.org/officeDocument/2006/relationships/image" Target="/ppt/media/image7.png" Id="R4ee0ef1bd2004158" /><Relationship Type="http://schemas.openxmlformats.org/officeDocument/2006/relationships/image" Target="/ppt/media/image8.png" Id="R12b577b794944d8d" /><Relationship Type="http://schemas.openxmlformats.org/officeDocument/2006/relationships/notesSlide" Target="/ppt/notesSlides/notesSlide1.xml" Id="R5750c2f11ebb47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b86efcdf54005" /><Relationship Type="http://schemas.openxmlformats.org/officeDocument/2006/relationships/image" Target="/ppt/media/image.png" Id="R49323123493340cb" /><Relationship Type="http://schemas.openxmlformats.org/officeDocument/2006/relationships/image" Target="/ppt/media/image7.png" Id="R915d6173dc354a6c" /><Relationship Type="http://schemas.openxmlformats.org/officeDocument/2006/relationships/image" Target="/ppt/media/image8.png" Id="R43c69c5ff1da4875" /><Relationship Type="http://schemas.openxmlformats.org/officeDocument/2006/relationships/notesSlide" Target="/ppt/notesSlides/notesSlide2.xml" Id="R57d009ecccd94e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c7ca43bb845e1" /><Relationship Type="http://schemas.openxmlformats.org/officeDocument/2006/relationships/image" Target="/ppt/media/image.png" Id="Rf6bb5f1ba58148ba" /><Relationship Type="http://schemas.openxmlformats.org/officeDocument/2006/relationships/image" Target="/ppt/media/image8.png" Id="R5696c0e23cdd4b5d" /><Relationship Type="http://schemas.openxmlformats.org/officeDocument/2006/relationships/image" Target="/ppt/media/image7.png" Id="R12e29a77f4df4957" /><Relationship Type="http://schemas.openxmlformats.org/officeDocument/2006/relationships/notesSlide" Target="/ppt/notesSlides/notesSlide3.xml" Id="R0715b581c1884e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e65e954d74804" /><Relationship Type="http://schemas.openxmlformats.org/officeDocument/2006/relationships/image" Target="/ppt/media/image.png" Id="R0b402736ef2b4cc5" /><Relationship Type="http://schemas.openxmlformats.org/officeDocument/2006/relationships/image" Target="/ppt/media/image8.png" Id="R60383d8c499c4e74" /><Relationship Type="http://schemas.openxmlformats.org/officeDocument/2006/relationships/image" Target="/ppt/media/image7.png" Id="Rff2df6cbaa774e72" /><Relationship Type="http://schemas.openxmlformats.org/officeDocument/2006/relationships/notesSlide" Target="/ppt/notesSlides/notesSlide4.xml" Id="Rabe853886c3e4d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ba6089807462b" /><Relationship Type="http://schemas.openxmlformats.org/officeDocument/2006/relationships/image" Target="/ppt/media/image.png" Id="R3edabf05d7304007" /><Relationship Type="http://schemas.openxmlformats.org/officeDocument/2006/relationships/image" Target="/ppt/media/image8.png" Id="Rbc1a38f46a1c4172" /><Relationship Type="http://schemas.openxmlformats.org/officeDocument/2006/relationships/image" Target="/ppt/media/image7.png" Id="R32eb951292cb4965" /><Relationship Type="http://schemas.openxmlformats.org/officeDocument/2006/relationships/notesSlide" Target="/ppt/notesSlides/notesSlide5.xml" Id="R65cdddd82caa4f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ac0b148bf4952" /><Relationship Type="http://schemas.openxmlformats.org/officeDocument/2006/relationships/image" Target="/ppt/media/image.png" Id="Rc134b4ad5e1a4290" /><Relationship Type="http://schemas.openxmlformats.org/officeDocument/2006/relationships/image" Target="/ppt/media/image8.png" Id="R423b311ee5e84751" /><Relationship Type="http://schemas.openxmlformats.org/officeDocument/2006/relationships/image" Target="/ppt/media/image7.png" Id="R37f65198b3554293" /><Relationship Type="http://schemas.openxmlformats.org/officeDocument/2006/relationships/notesSlide" Target="/ppt/notesSlides/notesSlide6.xml" Id="R2018e4d166d74e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a5e27985b477f" /><Relationship Type="http://schemas.openxmlformats.org/officeDocument/2006/relationships/image" Target="/ppt/media/image.png" Id="R2ca47fa7825f45e7" /><Relationship Type="http://schemas.openxmlformats.org/officeDocument/2006/relationships/image" Target="/ppt/media/image8.png" Id="R432044fc7fe04e75" /><Relationship Type="http://schemas.openxmlformats.org/officeDocument/2006/relationships/image" Target="/ppt/media/image7.png" Id="R81e25eef185b47ef" /><Relationship Type="http://schemas.openxmlformats.org/officeDocument/2006/relationships/notesSlide" Target="/ppt/notesSlides/notesSlide7.xml" Id="Rdf4228bb06fc4f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0a64147474ff7" /><Relationship Type="http://schemas.openxmlformats.org/officeDocument/2006/relationships/image" Target="/ppt/media/image.png" Id="R44e695fffaf64acf" /><Relationship Type="http://schemas.openxmlformats.org/officeDocument/2006/relationships/image" Target="/ppt/media/image8.png" Id="R82c85cd617654174" /><Relationship Type="http://schemas.openxmlformats.org/officeDocument/2006/relationships/image" Target="/ppt/media/image7.png" Id="Ra632a62e29d54e36" /><Relationship Type="http://schemas.openxmlformats.org/officeDocument/2006/relationships/notesSlide" Target="/ppt/notesSlides/notesSlide8.xml" Id="R53da316e286b48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e6535c87347e6" /><Relationship Type="http://schemas.openxmlformats.org/officeDocument/2006/relationships/image" Target="/ppt/media/image.png" Id="R13f50a3ca40546a9" /><Relationship Type="http://schemas.openxmlformats.org/officeDocument/2006/relationships/image" Target="/ppt/media/image8.png" Id="Rc5bffcbd6f5041e2" /><Relationship Type="http://schemas.openxmlformats.org/officeDocument/2006/relationships/image" Target="/ppt/media/image7.png" Id="R85aa98d587754ea3" /><Relationship Type="http://schemas.openxmlformats.org/officeDocument/2006/relationships/notesSlide" Target="/ppt/notesSlides/notesSlide9.xml" Id="R1a426f9e858f4c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84ee21f6b42d8" /><Relationship Type="http://schemas.openxmlformats.org/officeDocument/2006/relationships/image" Target="/ppt/media/image.png" Id="Rac30a96e3a4342f5" /><Relationship Type="http://schemas.openxmlformats.org/officeDocument/2006/relationships/image" Target="/ppt/media/image8.png" Id="Rd74ab101e5914050" /><Relationship Type="http://schemas.openxmlformats.org/officeDocument/2006/relationships/image" Target="/ppt/media/image7.png" Id="Rc3cce8593d77439e" /><Relationship Type="http://schemas.openxmlformats.org/officeDocument/2006/relationships/notesSlide" Target="/ppt/notesSlides/notesSlide10.xml" Id="R6939d681d86945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bc8c3bb224af8" /><Relationship Type="http://schemas.openxmlformats.org/officeDocument/2006/relationships/image" Target="/ppt/media/image.png" Id="Re398a360079d4761" /><Relationship Type="http://schemas.openxmlformats.org/officeDocument/2006/relationships/image" Target="/ppt/media/image7.png" Id="R40b3a11d17544355" /><Relationship Type="http://schemas.openxmlformats.org/officeDocument/2006/relationships/image" Target="/ppt/media/image8.png" Id="R67147aa781d64e5e" /><Relationship Type="http://schemas.openxmlformats.org/officeDocument/2006/relationships/notesSlide" Target="/ppt/notesSlides/notesSlide11.xml" Id="R065f7641c7e440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">
            <a:extLst xmlns:a="http://schemas.openxmlformats.org/drawingml/2006/main">
              <a:ext uri="{FF2B5EF4-FFF2-40B4-BE49-F238E27FC236}">
                <a16:creationId xmlns:a16="http://schemas.microsoft.com/office/drawing/2014/main" id="{6E0649DA-A34A-4E00-B3FD-ED8B36A2662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0" y="1278400"/>
            <a:ext cx="8520600" cy="120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PlumeTrace</a:t>
            </a:r>
          </a:p>
        </p:txBody>
      </p:sp>
      <p:sp>
        <p:nvSpPr>
          <p:cNvPr id="55" name="Google Shape;55;p1">
            <a:extLst xmlns:a="http://schemas.openxmlformats.org/drawingml/2006/main">
              <a:ext uri="{FF2B5EF4-FFF2-40B4-BE49-F238E27FC236}">
                <a16:creationId xmlns:a16="http://schemas.microsoft.com/office/drawing/2014/main" id="{8E5D945C-E6E7-4F0C-B20F-970AA21987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736100"/>
            <a:ext cx="5276700" cy="171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68756"/>
          </a:bodyPr>
          <a:lstStyle xmlns:a="http://schemas.openxmlformats.org/drawingml/2006/main"/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  <a:defRPr sz="1088">
                <a:solidFill>
                  <a:srgbClr val="0F172B"/>
                </a:solidFill>
              </a:defRPr>
            </a:pPr>
            <a:r>
              <a:rPr sz="1088">
                <a:solidFill>
                  <a:srgbClr val="0F172B"/>
                </a:solidFill>
                <a:latin typeface="Times New Roman"/>
                <a:ea typeface="Times New Roman"/>
                <a:cs typeface="Times New Roman"/>
              </a:rPr>
              <a:t>AI-Powered Municipal Environmental Forensics Platform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  <a:defRPr sz="1088">
                <a:solidFill>
                  <a:srgbClr val="0F172B"/>
                </a:solidFill>
              </a:defRPr>
            </a:pPr>
            <a:r>
              <a:rPr sz="1088">
                <a:solidFill>
                  <a:srgbClr val="0F172B"/>
                </a:solidFill>
                <a:latin typeface="Times New Roman"/>
                <a:ea typeface="Times New Roman"/>
                <a:cs typeface="Times New Roman"/>
              </a:rPr>
              <a:t>Team Name: PlumeTrace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  <a:defRPr sz="1088">
                <a:solidFill>
                  <a:srgbClr val="0F172B"/>
                </a:solidFill>
              </a:defRPr>
            </a:pPr>
            <a:r>
              <a:rPr sz="1088">
                <a:solidFill>
                  <a:srgbClr val="0F172B"/>
                </a:solidFill>
                <a:latin typeface="Times New Roman"/>
                <a:ea typeface="Times New Roman"/>
                <a:cs typeface="Times New Roman"/>
              </a:rPr>
              <a:t>Team Leader Name: PlumeTrace Team Lead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088">
                <a:solidFill>
                  <a:srgbClr val="0F172B"/>
                </a:solidFill>
              </a:defRPr>
            </a:pPr>
            <a:r>
              <a:rPr sz="1088">
                <a:solidFill>
                  <a:srgbClr val="0F172B"/>
                </a:solidFill>
                <a:latin typeface="Times New Roman"/>
                <a:ea typeface="Times New Roman"/>
                <a:cs typeface="Times New Roman"/>
              </a:rPr>
              <a:t>Teammates Name: Backend, AI, Agent, and Frontend tracks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088">
                <a:solidFill>
                  <a:srgbClr val="0F172B"/>
                </a:solidFill>
              </a:defRPr>
            </a:pPr>
            <a:r>
              <a:rPr sz="1088">
                <a:solidFill>
                  <a:srgbClr val="0F172B"/>
                </a:solidFill>
                <a:latin typeface="Times New Roman"/>
                <a:ea typeface="Times New Roman"/>
                <a:cs typeface="Times New Roman"/>
              </a:rPr>
              <a:t>College Name: IEEE Smart Cities Hackathon 2026 Submission</a:t>
            </a:r>
          </a:p>
        </p:txBody>
      </p:sp>
      <p:pic>
        <p:nvPicPr>
          <p:cNvPr id="66" name="Google Shape;56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91e712d390472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7650"/>
            <a:ext cx="9144001" cy="211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7" name="Google Shape;57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4f112df5f8404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83475" y="58800"/>
            <a:ext cx="2435905" cy="6488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8" name="Google Shape;58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3541ba9ef2432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97550" y="58788"/>
            <a:ext cx="1524000" cy="6039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Google Shape;59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f6e48f59c24ff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10651" y="76342"/>
            <a:ext cx="1524000" cy="6312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Google Shape;60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ad8589c5ac44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16075" y="103675"/>
            <a:ext cx="947372" cy="603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1" name="Google Shape;61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d2fb7a6a84409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0575" y="113850"/>
            <a:ext cx="1524000" cy="5937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2" name="Google Shape;62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e0ef1bd20041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52250" y="436550"/>
            <a:ext cx="256675" cy="9157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" name="Google Shape;63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b577b794944d8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01225" y="-3711450"/>
            <a:ext cx="319075" cy="91572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846448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2">
            <a:extLst xmlns:a="http://schemas.openxmlformats.org/drawingml/2006/main">
              <a:ext uri="{FF2B5EF4-FFF2-40B4-BE49-F238E27FC236}">
                <a16:creationId xmlns:a16="http://schemas.microsoft.com/office/drawing/2014/main" id="{E5015330-27A0-49EE-89E8-7E4E8C4CA5B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2950" y="0"/>
            <a:ext cx="5053800" cy="75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>
                <a:latin typeface="Times New Roman"/>
                <a:ea typeface="Times New Roman"/>
                <a:cs typeface="Times New Roman"/>
              </a:rPr>
              <a:t>PROBLEM  STATEMENT</a:t>
            </a:r>
          </a:p>
        </p:txBody>
      </p:sp>
      <p:pic>
        <p:nvPicPr>
          <p:cNvPr id="77" name="Google Shape;69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323123493340c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7650"/>
            <a:ext cx="9144001" cy="211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8" name="Google Shape;70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5d6173dc354a6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43663" y="431600"/>
            <a:ext cx="256675" cy="9167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" name="Google Shape;71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3c69c5ff1da487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12474" y="-3661887"/>
            <a:ext cx="319075" cy="905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2" name="Google Shape;72;p2">
            <a:extLst xmlns:a="http://schemas.openxmlformats.org/drawingml/2006/main">
              <a:ext uri="{FF2B5EF4-FFF2-40B4-BE49-F238E27FC236}">
                <a16:creationId xmlns:a16="http://schemas.microsoft.com/office/drawing/2014/main" id="{EE3390CC-B2C6-4C19-8F6C-30993A1CB87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3850" y="1066800"/>
            <a:ext cx="8334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Municipal teams can detect pollution spikes, but they often cannot prove where the plume originated fast enough for enforcement.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Sparse IoT stations see only local concentrations while changing winds move the source signature.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Manual traceback, weather lookup, property search, and report drafting delay field response.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Compliance evidence must connect sensor reading, wind vector, predicted source, and facility history.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PlumeTrace turns a critical hazard alert into real-time source attribution and a review-ready regulatory warning.</a:t>
            </a:r>
          </a:p>
        </p:txBody>
      </p:sp>
    </p:spTree>
    <p:extLst>
      <p:ext uri="{BB962C8B-B14F-4D97-AF65-F5344CB8AC3E}">
        <p14:creationId xmlns:p14="http://schemas.microsoft.com/office/powerpoint/2010/main" val="11908481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p3">
            <a:extLst xmlns:a="http://schemas.openxmlformats.org/drawingml/2006/main">
              <a:ext uri="{FF2B5EF4-FFF2-40B4-BE49-F238E27FC236}">
                <a16:creationId xmlns:a16="http://schemas.microsoft.com/office/drawing/2014/main" id="{2B85539B-7625-4433-AB2F-D57AFA9438D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2951" y="79725"/>
            <a:ext cx="3141000" cy="62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>
                <a:latin typeface="Times New Roman"/>
                <a:ea typeface="Times New Roman"/>
                <a:cs typeface="Times New Roman"/>
              </a:rPr>
              <a:t>ABSTRACT</a:t>
            </a:r>
          </a:p>
        </p:txBody>
      </p:sp>
      <p:pic>
        <p:nvPicPr>
          <p:cNvPr id="86" name="Google Shape;78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bb5f1ba58148b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7650"/>
            <a:ext cx="9144001" cy="211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7" name="Google Shape;79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96c0e23cdd4b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12462" y="-3661887"/>
            <a:ext cx="319075" cy="905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8" name="Google Shape;80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e29a77f4df495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52250" y="436550"/>
            <a:ext cx="256675" cy="9157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Google Shape;81;p3">
            <a:extLst xmlns:a="http://schemas.openxmlformats.org/drawingml/2006/main">
              <a:ext uri="{FF2B5EF4-FFF2-40B4-BE49-F238E27FC236}">
                <a16:creationId xmlns:a16="http://schemas.microsoft.com/office/drawing/2014/main" id="{4927B464-6C7A-4C3E-BE30-BC19B92987F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3850" y="1066800"/>
            <a:ext cx="833437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PlumeTrace is an AI-powered environmental forensics platform for municipal smart-city response.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Four industrial-zone sensors publish live air-quality telemetry through MQTT.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An asynchronous FastAPI backend validates, stores, and broadcasts readings to the dashboard.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A PyTorch PINN estimates the upstream emission origin using the 2D advection-diffusion residual.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LangGraph agents enrich alerts with wind vectors, facility records, compliance history, and enforcement language.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The prototype was smoke-tested end to end with live streams, REST history, and browser-generated reports.</a:t>
            </a:r>
          </a:p>
        </p:txBody>
      </p:sp>
    </p:spTree>
    <p:extLst>
      <p:ext uri="{BB962C8B-B14F-4D97-AF65-F5344CB8AC3E}">
        <p14:creationId xmlns:p14="http://schemas.microsoft.com/office/powerpoint/2010/main" val="4599641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4">
            <a:extLst xmlns:a="http://schemas.openxmlformats.org/drawingml/2006/main">
              <a:ext uri="{FF2B5EF4-FFF2-40B4-BE49-F238E27FC236}">
                <a16:creationId xmlns:a16="http://schemas.microsoft.com/office/drawing/2014/main" id="{FEFC03E4-C453-414C-ADF9-F1463D83F00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3850" y="1066800"/>
            <a:ext cx="833437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290">
                <a:solidFill>
                  <a:srgbClr val="020618"/>
                </a:solidFill>
              </a:defRPr>
            </a:pPr>
            <a:r>
              <a:rPr sz="129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Backend: FastAPI, gmqtt, async SQLAlchemy, SQLite, Pydantic v2, WebSockets.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290">
                <a:solidFill>
                  <a:srgbClr val="020618"/>
                </a:solidFill>
              </a:defRPr>
            </a:pPr>
            <a:r>
              <a:rPr sz="129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Streaming: Eclipse Mosquitto for deployment, plus local amqtt fallback for development tests.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290">
                <a:solidFill>
                  <a:srgbClr val="020618"/>
                </a:solidFill>
              </a:defRPr>
            </a:pPr>
            <a:r>
              <a:rPr sz="129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AI/ML: PyTorch PINN with data loss plus physics residual loss over 2,000 collocation points.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290">
                <a:solidFill>
                  <a:srgbClr val="020618"/>
                </a:solidFill>
              </a:defRPr>
            </a:pPr>
            <a:r>
              <a:rPr sz="129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Agents: LangGraph, LangChain tools, and OpenAI/Anthropic-ready compliance report wrappers.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290">
                <a:solidFill>
                  <a:srgbClr val="020618"/>
                </a:solidFill>
              </a:defRPr>
            </a:pPr>
            <a:r>
              <a:rPr sz="129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Frontend: Next.js App Router, TailwindCSS, react-map-gl, WebSocket telemetry, Mapbox/CARTO dark map fallback.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290">
                <a:solidFill>
                  <a:srgbClr val="020618"/>
                </a:solidFill>
              </a:defRPr>
            </a:pPr>
            <a:r>
              <a:rPr sz="129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Operations: typed settings, structured logging, robust error handling, and modular service boundaries.</a:t>
            </a:r>
          </a:p>
        </p:txBody>
      </p:sp>
      <p:pic>
        <p:nvPicPr>
          <p:cNvPr id="95" name="Google Shape;87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402736ef2b4cc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7650"/>
            <a:ext cx="9144001" cy="211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6" name="Google Shape;88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383d8c499c4e7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12462" y="-3661887"/>
            <a:ext cx="319075" cy="905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7" name="Google Shape;8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2df6cbaa774e7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52250" y="436550"/>
            <a:ext cx="256675" cy="9157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0" name="Google Shape;90;p4">
            <a:extLst xmlns:a="http://schemas.openxmlformats.org/drawingml/2006/main">
              <a:ext uri="{FF2B5EF4-FFF2-40B4-BE49-F238E27FC236}">
                <a16:creationId xmlns:a16="http://schemas.microsoft.com/office/drawing/2014/main" id="{EC58FF61-554B-4E3E-9D4E-9EC32B75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0" y="73325"/>
            <a:ext cx="5480400" cy="63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TECH STACK</a:t>
            </a:r>
          </a:p>
        </p:txBody>
      </p:sp>
    </p:spTree>
    <p:extLst>
      <p:ext uri="{BB962C8B-B14F-4D97-AF65-F5344CB8AC3E}">
        <p14:creationId xmlns:p14="http://schemas.microsoft.com/office/powerpoint/2010/main" val="15514856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5">
            <a:extLst xmlns:a="http://schemas.openxmlformats.org/drawingml/2006/main">
              <a:ext uri="{FF2B5EF4-FFF2-40B4-BE49-F238E27FC236}">
                <a16:creationId xmlns:a16="http://schemas.microsoft.com/office/drawing/2014/main" id="{A84AC7A9-D6FF-4F2C-BD1D-6A45F475656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3850" y="1066800"/>
            <a:ext cx="83343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Current air-quality response tools leave a gap between detection and defensible attribution.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Fixed monitoring dashboards show that pollution happened, but rarely prove who caused it.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Offline dispersion studies can be accurate, but they are too slow for incident triage.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Generic AI alerts lack physical constraints, making source claims difficult to defend.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Manual property-map checks create inconsistent evidence trails.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PlumeTrace joins live streams, physics-informed inversion, municipal records, and report drafting in one auditable workflow.</a:t>
            </a:r>
          </a:p>
        </p:txBody>
      </p:sp>
      <p:pic>
        <p:nvPicPr>
          <p:cNvPr id="104" name="Google Shape;96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dabf05d730400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7650"/>
            <a:ext cx="9144001" cy="211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5" name="Google Shape;97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1a38f46a1c417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12462" y="-3661887"/>
            <a:ext cx="319075" cy="905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6" name="Google Shape;98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eb951292cb496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52250" y="436550"/>
            <a:ext cx="256675" cy="9157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5">
            <a:extLst xmlns:a="http://schemas.openxmlformats.org/drawingml/2006/main">
              <a:ext uri="{FF2B5EF4-FFF2-40B4-BE49-F238E27FC236}">
                <a16:creationId xmlns:a16="http://schemas.microsoft.com/office/drawing/2014/main" id="{3B3BAC6E-A4D3-48B1-A45B-0C2E408B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5" y="63425"/>
            <a:ext cx="7492200" cy="60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EXISTING SOLUTIONS &amp; DRAWBACKS </a:t>
            </a:r>
          </a:p>
        </p:txBody>
      </p:sp>
    </p:spTree>
    <p:extLst>
      <p:ext uri="{BB962C8B-B14F-4D97-AF65-F5344CB8AC3E}">
        <p14:creationId xmlns:p14="http://schemas.microsoft.com/office/powerpoint/2010/main" val="12023810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CDC151FA-6D74-4908-A379-3E1326DAF14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3850" y="1066800"/>
            <a:ext cx="833437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PlumeTrace intercepts critical SO2 or PM2.5 spikes and turns them into an evidence-backed municipal response.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</a:rPr>
              <a:t>1. Validate telemetry and persist the reading.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</a:rPr>
              <a:t>2. Broadcast the hazard to the dashboard in real time.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</a:rPr>
              <a:t>3. Use wind-aware inverse dispersion to estimate an upstream source coordinate.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</a:rPr>
              <a:t>4. Match the coordinate to a municipal facility profile and compliance history.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</a:rPr>
              <a:t>5. Draft a three-paragraph regulatory warning for human review.</a:t>
            </a:r>
          </a:p>
        </p:txBody>
      </p:sp>
      <p:pic>
        <p:nvPicPr>
          <p:cNvPr id="113" name="Google Shape;105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34b4ad5e1a42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7650"/>
            <a:ext cx="9144001" cy="211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4" name="Google Shape;106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3b311ee5e8475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12462" y="-3661887"/>
            <a:ext cx="319075" cy="905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5" name="Google Shape;107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f65198b355429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52250" y="436550"/>
            <a:ext cx="256675" cy="9157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4D8F1A2E-7E48-482B-9BB1-3BB5DA31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0" y="83250"/>
            <a:ext cx="4410000" cy="6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12088319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7">
            <a:extLst xmlns:a="http://schemas.openxmlformats.org/drawingml/2006/main">
              <a:ext uri="{FF2B5EF4-FFF2-40B4-BE49-F238E27FC236}">
                <a16:creationId xmlns:a16="http://schemas.microsoft.com/office/drawing/2014/main" id="{F8D5AEF7-BD2F-46B6-9A9B-4D3BF68BE7E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3850" y="1066800"/>
            <a:ext cx="83343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Telemetry path: Sensors -&gt; MQTT city/airquality/+ -&gt; FastAPI listener -&gt; Pydantic validation -&gt; SQLite history -&gt; WebSocket /ws/plume -&gt; Next.js map.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Hazard path: alert triage -&gt; weather-vector tool -&gt; PINN source-inversion bridge -&gt; property registry search -&gt; compliance report generator.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The design is asynchronous at every boundary, so ingestion, visualization, and analytical response can run without blocking one another.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Local end-to-end verification confirmed broker connectivity, live mock sensor publishing, REST history, WebSocket packets, dashboard rendering, and agent report generation.</a:t>
            </a:r>
          </a:p>
        </p:txBody>
      </p:sp>
      <p:pic>
        <p:nvPicPr>
          <p:cNvPr id="122" name="Google Shape;114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a47fa7825f45e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7650"/>
            <a:ext cx="9144001" cy="211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3" name="Google Shape;115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32044fc7fe04e7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12462" y="-3661887"/>
            <a:ext cx="319075" cy="905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4" name="Google Shape;116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e25eef185b47e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52250" y="436550"/>
            <a:ext cx="256675" cy="9157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7" name="Google Shape;117;p7">
            <a:extLst xmlns:a="http://schemas.openxmlformats.org/drawingml/2006/main">
              <a:ext uri="{FF2B5EF4-FFF2-40B4-BE49-F238E27FC236}">
                <a16:creationId xmlns:a16="http://schemas.microsoft.com/office/drawing/2014/main" id="{8F8167A5-B972-47F2-B53D-1FF31721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0" y="53525"/>
            <a:ext cx="56787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ARCHITECTURE / WORKFLOW</a:t>
            </a:r>
          </a:p>
        </p:txBody>
      </p:sp>
    </p:spTree>
    <p:extLst>
      <p:ext uri="{BB962C8B-B14F-4D97-AF65-F5344CB8AC3E}">
        <p14:creationId xmlns:p14="http://schemas.microsoft.com/office/powerpoint/2010/main" val="12580064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Google Shape;122;p8">
            <a:extLst xmlns:a="http://schemas.openxmlformats.org/drawingml/2006/main">
              <a:ext uri="{FF2B5EF4-FFF2-40B4-BE49-F238E27FC236}">
                <a16:creationId xmlns:a16="http://schemas.microsoft.com/office/drawing/2014/main" id="{3B20502C-21F1-4559-A72B-D2B286CF1C9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3850" y="1066800"/>
            <a:ext cx="83343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Neuro-symbolic response loop: deterministic hazard thresholds and registry rules frame AI-generated enforcement text.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- Physics-informed source attribution: the model is constrained by dC/dt + u*dC/dx + v*dC/dy - D*(d2C/dx2 + d2C/dy2) = 0.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- Real-time forensic map: live markers, warning beacons, upstream plume trace, suspected source icon, and sensor popups share one canvas.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- Resilient demo path: Mapbox token is optional because the dashboard falls back to a tokenless dark raster style.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- Auditability: reports cite sensor coordinates, meteorological alignment, confidence, facility ownership, permits, and infractions.</a:t>
            </a:r>
          </a:p>
        </p:txBody>
      </p:sp>
      <p:pic>
        <p:nvPicPr>
          <p:cNvPr id="131" name="Google Shape;123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e695fffaf64a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7650"/>
            <a:ext cx="9144001" cy="211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2" name="Google Shape;124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c85cd61765417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12462" y="-3661887"/>
            <a:ext cx="319075" cy="905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25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32a62e29d54e3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52250" y="436550"/>
            <a:ext cx="256675" cy="9157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8">
            <a:extLst xmlns:a="http://schemas.openxmlformats.org/drawingml/2006/main">
              <a:ext uri="{FF2B5EF4-FFF2-40B4-BE49-F238E27FC236}">
                <a16:creationId xmlns:a16="http://schemas.microsoft.com/office/drawing/2014/main" id="{72EDA1CD-49D7-4947-AFDD-184CE800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0" y="53525"/>
            <a:ext cx="56787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UNIQUENESS / INNOVATION</a:t>
            </a:r>
          </a:p>
        </p:txBody>
      </p:sp>
    </p:spTree>
    <p:extLst>
      <p:ext uri="{BB962C8B-B14F-4D97-AF65-F5344CB8AC3E}">
        <p14:creationId xmlns:p14="http://schemas.microsoft.com/office/powerpoint/2010/main" val="4283950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9">
            <a:extLst xmlns:a="http://schemas.openxmlformats.org/drawingml/2006/main">
              <a:ext uri="{FF2B5EF4-FFF2-40B4-BE49-F238E27FC236}">
                <a16:creationId xmlns:a16="http://schemas.microsoft.com/office/drawing/2014/main" id="{4520C00B-8539-43F4-A266-5A40829F3DE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3850" y="1066800"/>
            <a:ext cx="83343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2315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Advantages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- Faster source attribution during municipal hazard events.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- Shared evidence trail across telemetry, wind, AI inference, registry data, and report text.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- Modular services can swap SQLite for PostGIS, mock weather for live APIs, and synthetic sensors for real stations.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- Browser-verified dashboard and API smoke tests are passing.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Limitations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- Current prototype uses synthetic sensors and static property records.</a:t>
            </a:r>
          </a:p>
          <a:p xmlns:a="http://schemas.openxmlformats.org/drawingml/2006/main">
            <a:pPr marL="457200" indent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- PINN output must be calibrated with real terrain, boundary-layer, and historical sensor data before regulatory production use.</a:t>
            </a:r>
          </a:p>
        </p:txBody>
      </p:sp>
      <p:pic>
        <p:nvPicPr>
          <p:cNvPr id="140" name="Google Shape;132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f50a3ca40546a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7650"/>
            <a:ext cx="9144001" cy="211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33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bffcbd6f5041e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12462" y="-3661887"/>
            <a:ext cx="319075" cy="905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2" name="Google Shape;134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aa98d587754ea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52250" y="436550"/>
            <a:ext cx="256675" cy="9157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5" name="Google Shape;135;p9">
            <a:extLst xmlns:a="http://schemas.openxmlformats.org/drawingml/2006/main">
              <a:ext uri="{FF2B5EF4-FFF2-40B4-BE49-F238E27FC236}">
                <a16:creationId xmlns:a16="http://schemas.microsoft.com/office/drawing/2014/main" id="{1E019B72-AD1C-4406-A3E5-0C50AF6A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0" y="53525"/>
            <a:ext cx="56787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2800" b="1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ADVANTAGES &amp; LIMITATIONS</a:t>
            </a:r>
          </a:p>
        </p:txBody>
      </p:sp>
    </p:spTree>
    <p:extLst>
      <p:ext uri="{BB962C8B-B14F-4D97-AF65-F5344CB8AC3E}">
        <p14:creationId xmlns:p14="http://schemas.microsoft.com/office/powerpoint/2010/main" val="13187277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10">
            <a:extLst xmlns:a="http://schemas.openxmlformats.org/drawingml/2006/main">
              <a:ext uri="{FF2B5EF4-FFF2-40B4-BE49-F238E27FC236}">
                <a16:creationId xmlns:a16="http://schemas.microsoft.com/office/drawing/2014/main" id="{8706A255-7104-4C83-8084-152FCDD4B22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3850" y="1066800"/>
            <a:ext cx="83343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PlumeTrace demonstrates a practical smart-city response loop: detect, attribute, document, and escalate.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The current prototype is running end to end across MQTT telemetry, FastAPI ingestion, WebSocket dashboard updates, REST history, PINN source-inversion code, LangGraph orchestration, and browser-generated compliance reports.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20618"/>
                </a:solidFill>
              </a:defRPr>
            </a:pPr>
            <a:r>
              <a:rPr sz="1350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Next milestones are live meteorological APIs, parcel GIS integration, real sensor calibration, PostGIS deployment, and an operator approval workflow for official notices.</a:t>
            </a:r>
          </a:p>
        </p:txBody>
      </p:sp>
      <p:pic>
        <p:nvPicPr>
          <p:cNvPr id="150" name="Google Shape;141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30a96e3a4342f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7650"/>
            <a:ext cx="9144001" cy="211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1" name="Google Shape;142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4ab101e591405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12462" y="-3661887"/>
            <a:ext cx="319075" cy="905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2" name="Google Shape;143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cce8593d77439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52250" y="436550"/>
            <a:ext cx="256675" cy="9157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4" name="Google Shape;144;p10">
            <a:extLst xmlns:a="http://schemas.openxmlformats.org/drawingml/2006/main">
              <a:ext uri="{FF2B5EF4-FFF2-40B4-BE49-F238E27FC236}">
                <a16:creationId xmlns:a16="http://schemas.microsoft.com/office/drawing/2014/main" id="{8D2C8C09-6680-4084-AA5A-D6EB2455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0" y="53525"/>
            <a:ext cx="56787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5" name="Google Shape;145;p10">
            <a:extLst xmlns:a="http://schemas.openxmlformats.org/drawingml/2006/main">
              <a:ext uri="{FF2B5EF4-FFF2-40B4-BE49-F238E27FC236}">
                <a16:creationId xmlns:a16="http://schemas.microsoft.com/office/drawing/2014/main" id="{4224717E-4A5D-4F1E-A4A6-D64B1A15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30000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3000" b="1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1817792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Google Shape;150;p11">
            <a:extLst xmlns:a="http://schemas.openxmlformats.org/drawingml/2006/main">
              <a:ext uri="{FF2B5EF4-FFF2-40B4-BE49-F238E27FC236}">
                <a16:creationId xmlns:a16="http://schemas.microsoft.com/office/drawing/2014/main" id="{C2AAA7C8-5139-44EE-B109-E429ABE8AC6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3850" y="1028700"/>
            <a:ext cx="83343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163">
                <a:solidFill>
                  <a:srgbClr val="020618"/>
                </a:solidFill>
              </a:defRPr>
            </a:pPr>
            <a:r>
              <a:rPr sz="1163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Implemented prototype artifacts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163">
                <a:solidFill>
                  <a:srgbClr val="020618"/>
                </a:solidFill>
              </a:defRPr>
            </a:pPr>
            <a:r>
              <a:rPr sz="1163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backend/app/main.py, mqtt_handler.py, websocket_manager.py, models.py, schemas.py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163">
                <a:solidFill>
                  <a:srgbClr val="020618"/>
                </a:solidFill>
              </a:defRPr>
            </a:pPr>
            <a:r>
              <a:rPr sz="1163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backend/mock_sensors.py and docker-compose.yml for MQTT-based telemetry simulation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163">
                <a:solidFill>
                  <a:srgbClr val="020618"/>
                </a:solidFill>
              </a:defRPr>
            </a:pPr>
            <a:r>
              <a:rPr sz="1163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pinn_engine.py for physics-informed inverse-dispersion training and source probability maps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163">
                <a:solidFill>
                  <a:srgbClr val="020618"/>
                </a:solidFill>
              </a:defRPr>
            </a:pPr>
            <a:r>
              <a:rPr sz="1163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agent_orchestrator.py for LangGraph alert-response automation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163">
                <a:solidFill>
                  <a:srgbClr val="020618"/>
                </a:solidFill>
              </a:defRPr>
            </a:pPr>
            <a:r>
              <a:rPr sz="1163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frontend/src/app/page.tsx, MapEngine.tsx, SidebarLogs.tsx for the live dashboard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163">
                <a:solidFill>
                  <a:srgbClr val="020618"/>
                </a:solidFill>
              </a:defRPr>
            </a:pPr>
            <a:r>
              <a:rPr sz="1163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Technical references</a:t>
            </a:r>
          </a:p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  <a:defRPr sz="1163">
                <a:solidFill>
                  <a:srgbClr val="020618"/>
                </a:solidFill>
              </a:defRPr>
            </a:pPr>
            <a:r>
              <a:rPr sz="1163">
                <a:solidFill>
                  <a:srgbClr val="020618"/>
                </a:solidFill>
                <a:latin typeface="Times New Roman"/>
                <a:ea typeface="Times New Roman"/>
                <a:cs typeface="Times New Roman"/>
              </a:rPr>
              <a:t>- FastAPI, MQTT, WebSockets, SQLAlchemy asyncio, PyTorch autograd, LangGraph/LangChain, react-map-gl</a:t>
            </a:r>
          </a:p>
        </p:txBody>
      </p:sp>
      <p:pic>
        <p:nvPicPr>
          <p:cNvPr id="159" name="Google Shape;151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98a360079d476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7650"/>
            <a:ext cx="9144001" cy="211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0" name="Google Shape;152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0b3a11d1754435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47300" y="431600"/>
            <a:ext cx="256675" cy="9167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1" name="Google Shape;153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147aa781d64e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5400000">
            <a:off x="4412462" y="-3661887"/>
            <a:ext cx="319075" cy="905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4" name="Google Shape;154;p11">
            <a:extLst xmlns:a="http://schemas.openxmlformats.org/drawingml/2006/main">
              <a:ext uri="{FF2B5EF4-FFF2-40B4-BE49-F238E27FC236}">
                <a16:creationId xmlns:a16="http://schemas.microsoft.com/office/drawing/2014/main" id="{FF6C1C98-F265-4ABE-9BFA-1E2108A54A5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2950" y="0"/>
            <a:ext cx="2942100" cy="71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16103968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2026-07-09T04:39:37.0980000Z</dcterms:created>
  <dcterms:modified xsi:type="dcterms:W3CDTF">2026-07-09T04:39:37.0980000Z</dcterms:modified>
</coreProperties>
</file>