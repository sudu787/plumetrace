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>
            <a:extLst>
              <a:ext uri="{FF2B5EF4-FFF2-40B4-BE49-F238E27FC236}">
                <a16:creationId xmlns:a16="http://schemas.microsoft.com/office/drawing/2014/main" id="{CE6C03E0-B54B-4CFD-8F2F-BFFCB21652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3">
            <a:extLst>
              <a:ext uri="{FF2B5EF4-FFF2-40B4-BE49-F238E27FC236}">
                <a16:creationId xmlns:a16="http://schemas.microsoft.com/office/drawing/2014/main" id="{EFD78EEE-1C75-46B9-ABE5-3824B5761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3">
            <a:extLst>
              <a:ext uri="{FF2B5EF4-FFF2-40B4-BE49-F238E27FC236}">
                <a16:creationId xmlns:a16="http://schemas.microsoft.com/office/drawing/2014/main" id="{D8E1A403-AD8F-41C7-BF14-6E67559D9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4">
            <a:extLst>
              <a:ext uri="{FF2B5EF4-FFF2-40B4-BE49-F238E27FC236}">
                <a16:creationId xmlns:a16="http://schemas.microsoft.com/office/drawing/2014/main" id="{0F180DBD-2256-4BE0-ACAB-2C7162A5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14">
            <a:extLst>
              <a:ext uri="{FF2B5EF4-FFF2-40B4-BE49-F238E27FC236}">
                <a16:creationId xmlns:a16="http://schemas.microsoft.com/office/drawing/2014/main" id="{ED0FE118-D39D-47DE-AD2B-610BDD32A85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>
            <a:extLst>
              <a:ext uri="{FF2B5EF4-FFF2-40B4-BE49-F238E27FC236}">
                <a16:creationId xmlns:a16="http://schemas.microsoft.com/office/drawing/2014/main" id="{F06635B6-3D1E-443A-A5D5-16CD07831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>
            <a:extLst>
              <a:ext uri="{FF2B5EF4-FFF2-40B4-BE49-F238E27FC236}">
                <a16:creationId xmlns:a16="http://schemas.microsoft.com/office/drawing/2014/main" id="{45BF2C98-BA9C-4AAC-99DF-09080B57D7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15">
            <a:extLst>
              <a:ext uri="{FF2B5EF4-FFF2-40B4-BE49-F238E27FC236}">
                <a16:creationId xmlns:a16="http://schemas.microsoft.com/office/drawing/2014/main" id="{28DEC30F-D2DA-439D-9A64-285C034FD2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6">
            <a:extLst>
              <a:ext uri="{FF2B5EF4-FFF2-40B4-BE49-F238E27FC236}">
                <a16:creationId xmlns:a16="http://schemas.microsoft.com/office/drawing/2014/main" id="{C4D92EA3-93A4-486A-82B1-0365C7E15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>
            <a:extLst>
              <a:ext uri="{FF2B5EF4-FFF2-40B4-BE49-F238E27FC236}">
                <a16:creationId xmlns:a16="http://schemas.microsoft.com/office/drawing/2014/main" id="{0B9CF809-D6AA-49C3-92DF-67E5084FE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6">
            <a:extLst>
              <a:ext uri="{FF2B5EF4-FFF2-40B4-BE49-F238E27FC236}">
                <a16:creationId xmlns:a16="http://schemas.microsoft.com/office/drawing/2014/main" id="{C9B7CB11-77B4-44D6-9F70-596092F8D96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6">
            <a:extLst>
              <a:ext uri="{FF2B5EF4-FFF2-40B4-BE49-F238E27FC236}">
                <a16:creationId xmlns:a16="http://schemas.microsoft.com/office/drawing/2014/main" id="{A6405E5E-D0C7-4716-9396-BDA769A272C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>
            <a:extLst>
              <a:ext uri="{FF2B5EF4-FFF2-40B4-BE49-F238E27FC236}">
                <a16:creationId xmlns:a16="http://schemas.microsoft.com/office/drawing/2014/main" id="{73E479D1-C3C8-421C-BD99-4FD6D63A4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>
            <a:extLst>
              <a:ext uri="{FF2B5EF4-FFF2-40B4-BE49-F238E27FC236}">
                <a16:creationId xmlns:a16="http://schemas.microsoft.com/office/drawing/2014/main" id="{BB100BA9-3278-49AF-8DEA-C9B1503215B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8">
            <a:extLst>
              <a:ext uri="{FF2B5EF4-FFF2-40B4-BE49-F238E27FC236}">
                <a16:creationId xmlns:a16="http://schemas.microsoft.com/office/drawing/2014/main" id="{B86DB506-755E-4803-ACE7-5D5692D00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8">
            <a:extLst>
              <a:ext uri="{FF2B5EF4-FFF2-40B4-BE49-F238E27FC236}">
                <a16:creationId xmlns:a16="http://schemas.microsoft.com/office/drawing/2014/main" id="{781CAFCA-EC31-4787-AE7A-AA2E551BB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8">
            <a:extLst>
              <a:ext uri="{FF2B5EF4-FFF2-40B4-BE49-F238E27FC236}">
                <a16:creationId xmlns:a16="http://schemas.microsoft.com/office/drawing/2014/main" id="{060F9B0B-FA9F-4F54-864F-2F7DBFE119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9">
            <a:extLst>
              <a:ext uri="{FF2B5EF4-FFF2-40B4-BE49-F238E27FC236}">
                <a16:creationId xmlns:a16="http://schemas.microsoft.com/office/drawing/2014/main" id="{D0C02E67-DD4D-4179-8399-131DAA5003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9">
            <a:extLst>
              <a:ext uri="{FF2B5EF4-FFF2-40B4-BE49-F238E27FC236}">
                <a16:creationId xmlns:a16="http://schemas.microsoft.com/office/drawing/2014/main" id="{AC61AA5F-22A1-4803-A70E-4F7AA43AE2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0">
            <a:extLst>
              <a:ext uri="{FF2B5EF4-FFF2-40B4-BE49-F238E27FC236}">
                <a16:creationId xmlns:a16="http://schemas.microsoft.com/office/drawing/2014/main" id="{44578080-2353-4E9B-994E-05EE97B93A88}"/>
              </a:ext>
            </a:extLst>
          </p:cNvPr>
          <p:cNvSpPr>
            <a:spLocks noGrp="1"/>
          </p:cNvSpPr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0">
            <a:extLst>
              <a:ext uri="{FF2B5EF4-FFF2-40B4-BE49-F238E27FC236}">
                <a16:creationId xmlns:a16="http://schemas.microsoft.com/office/drawing/2014/main" id="{69FE6051-7F89-4EF5-BB37-78505840D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20">
            <a:extLst>
              <a:ext uri="{FF2B5EF4-FFF2-40B4-BE49-F238E27FC236}">
                <a16:creationId xmlns:a16="http://schemas.microsoft.com/office/drawing/2014/main" id="{B1FAE585-A3EE-4642-8D41-7941332A17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20">
            <a:extLst>
              <a:ext uri="{FF2B5EF4-FFF2-40B4-BE49-F238E27FC236}">
                <a16:creationId xmlns:a16="http://schemas.microsoft.com/office/drawing/2014/main" id="{76AAC072-694D-4851-92BD-B9410616687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20">
            <a:extLst>
              <a:ext uri="{FF2B5EF4-FFF2-40B4-BE49-F238E27FC236}">
                <a16:creationId xmlns:a16="http://schemas.microsoft.com/office/drawing/2014/main" id="{9C953D42-A22C-45FE-822E-656F567017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>
            <a:extLst>
              <a:ext uri="{FF2B5EF4-FFF2-40B4-BE49-F238E27FC236}">
                <a16:creationId xmlns:a16="http://schemas.microsoft.com/office/drawing/2014/main" id="{5D5C5588-5B35-4989-90A1-5C77F23135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21">
            <a:extLst>
              <a:ext uri="{FF2B5EF4-FFF2-40B4-BE49-F238E27FC236}">
                <a16:creationId xmlns:a16="http://schemas.microsoft.com/office/drawing/2014/main" id="{89D8F396-D057-443F-80C4-F721514B00F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>
            <a:extLst>
              <a:ext uri="{FF2B5EF4-FFF2-40B4-BE49-F238E27FC236}">
                <a16:creationId xmlns:a16="http://schemas.microsoft.com/office/drawing/2014/main" id="{77C064FE-24C3-45D8-B3D1-72AEE0C577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2">
            <a:extLst>
              <a:ext uri="{FF2B5EF4-FFF2-40B4-BE49-F238E27FC236}">
                <a16:creationId xmlns:a16="http://schemas.microsoft.com/office/drawing/2014/main" id="{3CEEBE26-1C23-4726-9D58-1FC1859BE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2">
            <a:extLst>
              <a:ext uri="{FF2B5EF4-FFF2-40B4-BE49-F238E27FC236}">
                <a16:creationId xmlns:a16="http://schemas.microsoft.com/office/drawing/2014/main" id="{C49B1F2A-157F-481B-8938-DE3BBEBA4C6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3">
            <a:extLst>
              <a:ext uri="{FF2B5EF4-FFF2-40B4-BE49-F238E27FC236}">
                <a16:creationId xmlns:a16="http://schemas.microsoft.com/office/drawing/2014/main" id="{18F95E9E-BEFE-4DA4-862B-6F4AA8133A3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>
            <a:extLst>
              <a:ext uri="{FF2B5EF4-FFF2-40B4-BE49-F238E27FC236}">
                <a16:creationId xmlns:a16="http://schemas.microsoft.com/office/drawing/2014/main" id="{9737D93A-C98F-43C6-845B-D11BD9A8D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7" name="Google Shape;7;p12">
            <a:extLst>
              <a:ext uri="{FF2B5EF4-FFF2-40B4-BE49-F238E27FC236}">
                <a16:creationId xmlns:a16="http://schemas.microsoft.com/office/drawing/2014/main" id="{92A60A65-A3EA-49D7-AC7A-6A66CC5B2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>
            <a:lvl1pPr marL="45720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2743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32004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36576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41148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 sz="14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endParaRPr/>
          </a:p>
        </p:txBody>
      </p:sp>
      <p:sp>
        <p:nvSpPr>
          <p:cNvPr id="8" name="Google Shape;8;p12">
            <a:extLst>
              <a:ext uri="{FF2B5EF4-FFF2-40B4-BE49-F238E27FC236}">
                <a16:creationId xmlns:a16="http://schemas.microsoft.com/office/drawing/2014/main" id="{06DB912B-15F7-4D5E-9692-B804F2858CE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arxiv.org/abs/2512.07755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faculty.sites.iastate.edu/hliu/files/inline-files/PINN_RPK_2019_1.pdf" TargetMode="External"/><Relationship Id="rId4" Type="http://schemas.openxmlformats.org/officeDocument/2006/relationships/hyperlink" Target="https://arxiv.org/abs/2503.188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>
            <a:extLst>
              <a:ext uri="{FF2B5EF4-FFF2-40B4-BE49-F238E27FC236}">
                <a16:creationId xmlns:a16="http://schemas.microsoft.com/office/drawing/2014/main" id="{6E0649DA-A34A-4E00-B3FD-ED8B36A26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780" y="1260950"/>
            <a:ext cx="85206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/>
          </a:bodyPr>
          <a:lstStyle/>
          <a:p>
            <a:pPr marL="0" indent="0" algn="ctr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  <a:latin typeface="Times New Roman"/>
                <a:ea typeface="Times New Roman"/>
                <a:cs typeface="Times New Roman"/>
              </a:rPr>
              <a:t>PlumeTrace</a:t>
            </a:r>
          </a:p>
        </p:txBody>
      </p:sp>
      <p:sp>
        <p:nvSpPr>
          <p:cNvPr id="55" name="Google Shape;55;p1">
            <a:extLst>
              <a:ext uri="{FF2B5EF4-FFF2-40B4-BE49-F238E27FC236}">
                <a16:creationId xmlns:a16="http://schemas.microsoft.com/office/drawing/2014/main" id="{8E5D945C-E6E7-4F0C-B20F-970AA21987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408349"/>
            <a:ext cx="5276700" cy="20401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457200" indent="0" algn="l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  <a:defRPr sz="1088">
                <a:solidFill>
                  <a:srgbClr val="0F172B"/>
                </a:solidFill>
              </a:defRPr>
            </a:pPr>
            <a:r>
              <a:rPr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AI-Powered Municipal Environmental Forensics Platform</a:t>
            </a:r>
          </a:p>
          <a:p>
            <a:pPr marL="457200" indent="0" algn="l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  <a:defRPr sz="1088">
                <a:solidFill>
                  <a:srgbClr val="0F172B"/>
                </a:solidFill>
              </a:defRPr>
            </a:pPr>
            <a:r>
              <a:rPr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Team Name: </a:t>
            </a:r>
            <a:r>
              <a:rPr sz="1200" dirty="0" err="1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PlumeTrace</a:t>
            </a:r>
            <a:endParaRPr sz="1200" dirty="0">
              <a:solidFill>
                <a:srgbClr val="0F172B"/>
              </a:solidFill>
              <a:latin typeface="Times New Roman"/>
              <a:ea typeface="Times New Roman"/>
              <a:cs typeface="Times New Roman"/>
            </a:endParaRPr>
          </a:p>
          <a:p>
            <a:pPr marL="457200" indent="0" algn="l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  <a:defRPr sz="1088">
                <a:solidFill>
                  <a:srgbClr val="0F172B"/>
                </a:solidFill>
              </a:defRPr>
            </a:pPr>
            <a:r>
              <a:rPr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Team Leader Name: </a:t>
            </a:r>
            <a:r>
              <a:rPr lang="en-GB"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SUDARSHAN AJOY SINDHU</a:t>
            </a:r>
          </a:p>
          <a:p>
            <a:pPr marL="457200" indent="0" algn="l">
              <a:lnSpc>
                <a:spcPct val="107916"/>
              </a:lnSpc>
              <a:spcBef>
                <a:spcPts val="1200"/>
              </a:spcBef>
              <a:spcAft>
                <a:spcPts val="0"/>
              </a:spcAft>
              <a:buNone/>
              <a:defRPr sz="1088">
                <a:solidFill>
                  <a:srgbClr val="0F172B"/>
                </a:solidFill>
              </a:defRPr>
            </a:pPr>
            <a:r>
              <a:rPr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Teammates Name: </a:t>
            </a:r>
            <a:r>
              <a:rPr lang="en-GB"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SAURABH KHOLLI</a:t>
            </a:r>
          </a:p>
          <a:p>
            <a:pPr marL="457200" indent="0" algn="l">
              <a:lnSpc>
                <a:spcPct val="107916"/>
              </a:lnSpc>
              <a:spcBef>
                <a:spcPts val="1200"/>
              </a:spcBef>
              <a:spcAft>
                <a:spcPts val="1200"/>
              </a:spcAft>
              <a:buNone/>
              <a:defRPr sz="1088">
                <a:solidFill>
                  <a:srgbClr val="0F172B"/>
                </a:solidFill>
              </a:defRPr>
            </a:pPr>
            <a:r>
              <a:rPr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College Name: </a:t>
            </a:r>
            <a:r>
              <a:rPr lang="en-GB" sz="1200" dirty="0">
                <a:solidFill>
                  <a:srgbClr val="0F172B"/>
                </a:solidFill>
                <a:latin typeface="Times New Roman"/>
                <a:ea typeface="Times New Roman"/>
                <a:cs typeface="Times New Roman"/>
              </a:rPr>
              <a:t>ABV IIITM GWALIOR</a:t>
            </a:r>
            <a:endParaRPr sz="1200" dirty="0">
              <a:solidFill>
                <a:srgbClr val="0F172B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66" name="Google Shape;56;p1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67" name="Google Shape;57;p1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83475" y="58800"/>
            <a:ext cx="2435905" cy="648825"/>
          </a:xfrm>
          <a:prstGeom prst="rect">
            <a:avLst/>
          </a:prstGeom>
          <a:ln>
            <a:noFill/>
          </a:ln>
        </p:spPr>
      </p:pic>
      <p:pic>
        <p:nvPicPr>
          <p:cNvPr id="68" name="Google Shape;58;p1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897550" y="58788"/>
            <a:ext cx="1524000" cy="603956"/>
          </a:xfrm>
          <a:prstGeom prst="rect">
            <a:avLst/>
          </a:prstGeom>
          <a:ln>
            <a:noFill/>
          </a:ln>
        </p:spPr>
      </p:pic>
      <p:pic>
        <p:nvPicPr>
          <p:cNvPr id="69" name="Google Shape;59;p1"/>
          <p:cNvPicPr>
            <a:picLocks noChangeAspect="1"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210651" y="76342"/>
            <a:ext cx="1524000" cy="631283"/>
          </a:xfrm>
          <a:prstGeom prst="rect">
            <a:avLst/>
          </a:prstGeom>
          <a:ln>
            <a:noFill/>
          </a:ln>
        </p:spPr>
      </p:pic>
      <p:pic>
        <p:nvPicPr>
          <p:cNvPr id="70" name="Google Shape;60;p1"/>
          <p:cNvPicPr>
            <a:picLocks noChangeAspect="1"/>
          </p:cNvPicPr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916075" y="103675"/>
            <a:ext cx="947372" cy="603950"/>
          </a:xfrm>
          <a:prstGeom prst="rect">
            <a:avLst/>
          </a:prstGeom>
          <a:ln>
            <a:noFill/>
          </a:ln>
        </p:spPr>
      </p:pic>
      <p:pic>
        <p:nvPicPr>
          <p:cNvPr id="71" name="Google Shape;61;p1"/>
          <p:cNvPicPr>
            <a:picLocks noChangeAspect="1"/>
          </p:cNvPicPr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70575" y="113850"/>
            <a:ext cx="1524000" cy="593763"/>
          </a:xfrm>
          <a:prstGeom prst="rect">
            <a:avLst/>
          </a:prstGeom>
          <a:ln>
            <a:noFill/>
          </a:ln>
        </p:spPr>
      </p:pic>
      <p:pic>
        <p:nvPicPr>
          <p:cNvPr id="72" name="Google Shape;62;p1"/>
          <p:cNvPicPr>
            <a:picLocks noChangeAspect="1"/>
          </p:cNvPicPr>
          <p:nvPr/>
        </p:nvPicPr>
        <p:blipFill rotWithShape="1">
          <a:blip r:embed="rId9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pic>
        <p:nvPicPr>
          <p:cNvPr id="73" name="Google Shape;63;p1"/>
          <p:cNvPicPr>
            <a:picLocks noChangeAspect="1"/>
          </p:cNvPicPr>
          <p:nvPr/>
        </p:nvPicPr>
        <p:blipFill rotWithShape="1">
          <a:blip r:embed="rId10">
            <a:alphaModFix/>
          </a:blip>
          <a:srcRect/>
          <a:stretch/>
        </p:blipFill>
        <p:spPr>
          <a:xfrm rot="-5400000">
            <a:off x="4401225" y="-3711450"/>
            <a:ext cx="319075" cy="915722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4644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>
            <a:extLst>
              <a:ext uri="{FF2B5EF4-FFF2-40B4-BE49-F238E27FC236}">
                <a16:creationId xmlns:a16="http://schemas.microsoft.com/office/drawing/2014/main" id="{E5015330-27A0-49EE-89E8-7E4E8C4CA5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50" y="0"/>
            <a:ext cx="5053800" cy="7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 fontScale="90000"/>
          </a:bodyPr>
          <a:lstStyle/>
          <a:p>
            <a:pPr marL="0" indent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dirty="0">
                <a:latin typeface="Times New Roman"/>
                <a:ea typeface="Times New Roman"/>
                <a:cs typeface="Times New Roman"/>
              </a:rPr>
              <a:t>PROBLEM  STATEMENT</a:t>
            </a:r>
          </a:p>
        </p:txBody>
      </p:sp>
      <p:pic>
        <p:nvPicPr>
          <p:cNvPr id="77" name="Google Shape;69;p2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78" name="Google Shape;70;p2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43663" y="431600"/>
            <a:ext cx="256675" cy="9167125"/>
          </a:xfrm>
          <a:prstGeom prst="rect">
            <a:avLst/>
          </a:prstGeom>
          <a:ln>
            <a:noFill/>
          </a:ln>
        </p:spPr>
      </p:pic>
      <p:pic>
        <p:nvPicPr>
          <p:cNvPr id="79" name="Google Shape;71;p2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12474" y="-3661887"/>
            <a:ext cx="319075" cy="9058100"/>
          </a:xfrm>
          <a:prstGeom prst="rect">
            <a:avLst/>
          </a:prstGeom>
          <a:ln>
            <a:noFill/>
          </a:ln>
        </p:spPr>
      </p:pic>
      <p:sp>
        <p:nvSpPr>
          <p:cNvPr id="72" name="Google Shape;72;p2">
            <a:extLst>
              <a:ext uri="{FF2B5EF4-FFF2-40B4-BE49-F238E27FC236}">
                <a16:creationId xmlns:a16="http://schemas.microsoft.com/office/drawing/2014/main" id="{EE3390CC-B2C6-4C19-8F6C-30993A1CB8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143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Autofit/>
          </a:bodyPr>
          <a:lstStyle/>
          <a:p>
            <a:pPr algn="l"/>
            <a:r>
              <a:rPr lang="en-US" sz="1600" b="1" dirty="0"/>
              <a:t>Municipal agencies detect air quality violations daily, but proving which facility caused a pollution plume remains the critical bottleneck for enforcement action.</a:t>
            </a:r>
            <a:br>
              <a:rPr lang="en-US" sz="1600" b="1" dirty="0"/>
            </a:br>
            <a:br>
              <a:rPr lang="en-US" sz="1600" dirty="0"/>
            </a:br>
            <a:r>
              <a:rPr lang="en-US" sz="1600" b="1" dirty="0"/>
              <a:t>Detection isn't Attribution:</a:t>
            </a:r>
            <a:r>
              <a:rPr lang="en-US" sz="1600" dirty="0"/>
              <a:t> Sparse IoT sensor grids capture local concentrations but cannot trace pollutant transport paths backwards through complex urban wind fields.</a:t>
            </a:r>
            <a:br>
              <a:rPr lang="en-US" sz="1600" dirty="0"/>
            </a:br>
            <a:r>
              <a:rPr lang="en-US" sz="1600" b="1" dirty="0"/>
              <a:t>Slow Response Times:</a:t>
            </a:r>
            <a:r>
              <a:rPr lang="en-US" sz="1600" dirty="0"/>
              <a:t> Manual traceback involving weather lookups, property searches, and legal drafting delays field response by hours or days.</a:t>
            </a:r>
            <a:br>
              <a:rPr lang="en-US" sz="1600" dirty="0"/>
            </a:br>
            <a:r>
              <a:rPr lang="en-US" sz="1600" b="1" dirty="0"/>
              <a:t>Weak Evidence Trails:</a:t>
            </a:r>
            <a:r>
              <a:rPr lang="en-US" sz="1600" dirty="0"/>
              <a:t> Generic AI alerts lack physical constraints derived from atmospheric transport equations, making source claims legally indefensible.</a:t>
            </a:r>
            <a:br>
              <a:rPr lang="en-US" sz="1600" dirty="0"/>
            </a:br>
            <a:r>
              <a:rPr lang="en-US" sz="1600" b="1" dirty="0"/>
              <a:t>The </a:t>
            </a:r>
            <a:r>
              <a:rPr lang="en-US" sz="1600" b="1" dirty="0" err="1"/>
              <a:t>PlumeTrace</a:t>
            </a:r>
            <a:r>
              <a:rPr lang="en-US" sz="1600" b="1" dirty="0"/>
              <a:t> Solution:</a:t>
            </a:r>
            <a:r>
              <a:rPr lang="en-US" sz="1600" dirty="0"/>
              <a:t> </a:t>
            </a:r>
            <a:r>
              <a:rPr lang="en-US" sz="1600" dirty="0" err="1"/>
              <a:t>PlumeTrace</a:t>
            </a:r>
            <a:r>
              <a:rPr lang="en-US" sz="1600" dirty="0"/>
              <a:t> converts a critical hazard alert into real-time, physics-backed source attribution and a review-ready regulatory enforcement warning.</a:t>
            </a:r>
          </a:p>
        </p:txBody>
      </p:sp>
    </p:spTree>
    <p:extLst>
      <p:ext uri="{BB962C8B-B14F-4D97-AF65-F5344CB8AC3E}">
        <p14:creationId xmlns:p14="http://schemas.microsoft.com/office/powerpoint/2010/main" val="1190848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>
            <a:extLst>
              <a:ext uri="{FF2B5EF4-FFF2-40B4-BE49-F238E27FC236}">
                <a16:creationId xmlns:a16="http://schemas.microsoft.com/office/drawing/2014/main" id="{2B85539B-7625-4433-AB2F-D57AFA9438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51" y="79725"/>
            <a:ext cx="31410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 fontScale="90000"/>
          </a:bodyPr>
          <a:lstStyle/>
          <a:p>
            <a:pPr marL="0" indent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dirty="0">
                <a:latin typeface="Times New Roman"/>
                <a:ea typeface="Times New Roman"/>
                <a:cs typeface="Times New Roman"/>
              </a:rPr>
              <a:t>ABSTRACT</a:t>
            </a:r>
          </a:p>
        </p:txBody>
      </p:sp>
      <p:pic>
        <p:nvPicPr>
          <p:cNvPr id="86" name="Google Shape;78;p3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87" name="Google Shape;79;p3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88" name="Google Shape;80;p3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81" name="Google Shape;81;p3">
            <a:extLst>
              <a:ext uri="{FF2B5EF4-FFF2-40B4-BE49-F238E27FC236}">
                <a16:creationId xmlns:a16="http://schemas.microsoft.com/office/drawing/2014/main" id="{4927B464-6C7A-4C3E-BE30-BC19B9298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algn="l"/>
            <a:r>
              <a:rPr lang="en-US" sz="1400" b="1" dirty="0" err="1"/>
              <a:t>PlumeTrace</a:t>
            </a:r>
            <a:r>
              <a:rPr lang="en-US" sz="1400" b="1" dirty="0"/>
              <a:t> is an AI-powered environmental forensics platform for municipal smart-city hazard response, combining physics-informed deep learning with autonomous compliance workflows.</a:t>
            </a:r>
            <a:br>
              <a:rPr lang="en-US" sz="1400" b="1" dirty="0"/>
            </a:br>
            <a:br>
              <a:rPr lang="en-US" sz="1400" dirty="0"/>
            </a:br>
            <a:r>
              <a:rPr lang="en-US" sz="1400" b="1" dirty="0"/>
              <a:t>Real-time Ingestion:</a:t>
            </a:r>
            <a:r>
              <a:rPr lang="en-US" sz="1400" dirty="0"/>
              <a:t> Eight industrial-zone IoT sensors publish live air-quality telemetry (SO₂, PM2.5, wind vectors, altitude) through an MQTT broker at 2-second intervals.</a:t>
            </a:r>
            <a:br>
              <a:rPr lang="en-US" sz="1400" dirty="0"/>
            </a:br>
            <a:r>
              <a:rPr lang="en-US" sz="1400" b="1" dirty="0"/>
              <a:t>Asynchronous Engine:</a:t>
            </a:r>
            <a:r>
              <a:rPr lang="en-US" sz="1400" dirty="0"/>
              <a:t> A </a:t>
            </a:r>
            <a:r>
              <a:rPr lang="en-US" sz="1400" dirty="0" err="1"/>
              <a:t>FastAPI</a:t>
            </a:r>
            <a:r>
              <a:rPr lang="en-US" sz="1400" dirty="0"/>
              <a:t> backend validates payloads via </a:t>
            </a:r>
            <a:r>
              <a:rPr lang="en-US" sz="1400" dirty="0" err="1"/>
              <a:t>Pydantic</a:t>
            </a:r>
            <a:r>
              <a:rPr lang="en-US" sz="1400" dirty="0"/>
              <a:t> v2, persists to SQLite, and broadcasts readings to the dashboard via Server-Sent Events (SSE).</a:t>
            </a:r>
            <a:br>
              <a:rPr lang="en-US" sz="1400" dirty="0"/>
            </a:br>
            <a:r>
              <a:rPr lang="en-US" sz="1400" b="1" dirty="0"/>
              <a:t>Physics-Informed AI Inversion:</a:t>
            </a:r>
            <a:r>
              <a:rPr lang="en-US" sz="1400" dirty="0"/>
              <a:t> A 4D Physics-Informed Neural Network (PINN) solves the advection-diffusion PDE backwards in (x, y, z, t) to estimate the upstream emission origin.</a:t>
            </a:r>
            <a:br>
              <a:rPr lang="en-US" sz="1400" dirty="0"/>
            </a:br>
            <a:r>
              <a:rPr lang="en-US" sz="1400" b="1" dirty="0"/>
              <a:t>Autonomous Compliance:</a:t>
            </a:r>
            <a:r>
              <a:rPr lang="en-US" sz="1400" dirty="0"/>
              <a:t> </a:t>
            </a:r>
            <a:r>
              <a:rPr lang="en-US" sz="1400" dirty="0" err="1"/>
              <a:t>LangGraph</a:t>
            </a:r>
            <a:r>
              <a:rPr lang="en-US" sz="1400" dirty="0"/>
              <a:t> state-machine agents enrich alerts with meteorological vectors, RAG-retrieved Clean Air Act policies, facility registry records, and enforcement language.</a:t>
            </a:r>
            <a:br>
              <a:rPr lang="en-US" sz="1400" dirty="0"/>
            </a:br>
            <a:r>
              <a:rPr lang="en-US" sz="1400" b="1" dirty="0"/>
              <a:t>Human-in-the-Loop Review:</a:t>
            </a:r>
            <a:r>
              <a:rPr lang="en-US" sz="1400" dirty="0"/>
              <a:t> A live, 3D React dashboard allows operators to approve, reject, or request AI-powered refinements to draft enforcement reports before dispatch.</a:t>
            </a:r>
          </a:p>
        </p:txBody>
      </p:sp>
    </p:spTree>
    <p:extLst>
      <p:ext uri="{BB962C8B-B14F-4D97-AF65-F5344CB8AC3E}">
        <p14:creationId xmlns:p14="http://schemas.microsoft.com/office/powerpoint/2010/main" val="45996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">
            <a:extLst>
              <a:ext uri="{FF2B5EF4-FFF2-40B4-BE49-F238E27FC236}">
                <a16:creationId xmlns:a16="http://schemas.microsoft.com/office/drawing/2014/main" id="{FEFC03E4-C453-414C-ADF9-F1463D83F0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algn="l"/>
            <a:r>
              <a:rPr lang="en-US" sz="1200" b="1" dirty="0"/>
              <a:t>Backend &amp; API:</a:t>
            </a:r>
            <a:r>
              <a:rPr lang="en-US" sz="1200" dirty="0"/>
              <a:t> </a:t>
            </a:r>
            <a:r>
              <a:rPr lang="en-US" sz="1200" dirty="0" err="1"/>
              <a:t>FastAPI</a:t>
            </a:r>
            <a:r>
              <a:rPr lang="en-US" sz="1200" dirty="0"/>
              <a:t>, </a:t>
            </a:r>
            <a:r>
              <a:rPr lang="en-US" sz="1200" dirty="0" err="1"/>
              <a:t>gmqtt</a:t>
            </a:r>
            <a:r>
              <a:rPr lang="en-US" sz="1200" dirty="0"/>
              <a:t> (async MQTT client), </a:t>
            </a:r>
            <a:r>
              <a:rPr lang="en-US" sz="1200" dirty="0" err="1"/>
              <a:t>aiosqlite</a:t>
            </a:r>
            <a:r>
              <a:rPr lang="en-US" sz="1200" dirty="0"/>
              <a:t> (async </a:t>
            </a:r>
            <a:r>
              <a:rPr lang="en-US" sz="1200" dirty="0" err="1"/>
              <a:t>SQLAlchemy</a:t>
            </a:r>
            <a:r>
              <a:rPr lang="en-US" sz="1200" dirty="0"/>
              <a:t>), SQLite, </a:t>
            </a:r>
            <a:r>
              <a:rPr lang="en-US" sz="1200" dirty="0" err="1"/>
              <a:t>Pydantic</a:t>
            </a:r>
            <a:r>
              <a:rPr lang="en-US" sz="1200" dirty="0"/>
              <a:t> v2, and a custom SSE Manager with exponential backoff</a:t>
            </a:r>
            <a:br>
              <a:rPr lang="en-US" sz="1200" dirty="0"/>
            </a:br>
            <a:r>
              <a:rPr lang="en-US" sz="1200" dirty="0"/>
              <a:t>.</a:t>
            </a:r>
            <a:br>
              <a:rPr lang="en-US" sz="1200" dirty="0"/>
            </a:br>
            <a:r>
              <a:rPr lang="en-US" sz="1200" b="1" dirty="0"/>
              <a:t>Streaming &amp; Telemetry:</a:t>
            </a:r>
            <a:r>
              <a:rPr lang="en-US" sz="1200" dirty="0"/>
              <a:t> Embedded </a:t>
            </a:r>
            <a:r>
              <a:rPr lang="en-US" sz="1200" dirty="0" err="1"/>
              <a:t>amqtt</a:t>
            </a:r>
            <a:r>
              <a:rPr lang="en-US" sz="1200" dirty="0"/>
              <a:t> MQTT broker handling live IoT sensor subscriptions (city/</a:t>
            </a:r>
            <a:r>
              <a:rPr lang="en-US" sz="1200" dirty="0" err="1"/>
              <a:t>airquality</a:t>
            </a:r>
            <a:r>
              <a:rPr lang="en-US" sz="1200" dirty="0"/>
              <a:t>/+).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AI/ML Physics Engine:</a:t>
            </a:r>
            <a:r>
              <a:rPr lang="en-US" sz="1200" dirty="0"/>
              <a:t> </a:t>
            </a:r>
            <a:r>
              <a:rPr lang="en-US" sz="1200" dirty="0" err="1"/>
              <a:t>PyTorch</a:t>
            </a:r>
            <a:r>
              <a:rPr lang="en-US" sz="1200" dirty="0"/>
              <a:t> 4D Physics-Informed Neural Network (PINN) — Fourier Residual architecture with Sobol sequence collocation and </a:t>
            </a:r>
            <a:r>
              <a:rPr lang="en-US" sz="1200" dirty="0" err="1"/>
              <a:t>SoftAdapt</a:t>
            </a:r>
            <a:r>
              <a:rPr lang="en-US" sz="1200" dirty="0"/>
              <a:t> loss weighting.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Agents &amp; Automation:</a:t>
            </a:r>
            <a:r>
              <a:rPr lang="en-US" sz="1200" dirty="0"/>
              <a:t> </a:t>
            </a:r>
            <a:r>
              <a:rPr lang="en-US" sz="1200" dirty="0" err="1"/>
              <a:t>LangGraph</a:t>
            </a:r>
            <a:r>
              <a:rPr lang="en-US" sz="1200" dirty="0"/>
              <a:t> state-machine orchestrator, </a:t>
            </a:r>
            <a:r>
              <a:rPr lang="en-US" sz="1200" dirty="0" err="1"/>
              <a:t>LangChain</a:t>
            </a:r>
            <a:r>
              <a:rPr lang="en-US" sz="1200" dirty="0"/>
              <a:t> tool integrations, and a TF-IDF RAG engine for parsing Clean Air Act and municipal zoning policies.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Frontend &amp; Visualization:</a:t>
            </a:r>
            <a:r>
              <a:rPr lang="en-US" sz="1200" dirty="0"/>
              <a:t> Next.js 14, Tailwind CSS, react-map-</a:t>
            </a:r>
            <a:r>
              <a:rPr lang="en-US" sz="1200" dirty="0" err="1"/>
              <a:t>gl</a:t>
            </a:r>
            <a:r>
              <a:rPr lang="en-US" sz="1200" dirty="0"/>
              <a:t> (hardware-accelerated </a:t>
            </a:r>
            <a:r>
              <a:rPr lang="en-US" sz="1200" dirty="0" err="1"/>
              <a:t>MapLibre</a:t>
            </a:r>
            <a:r>
              <a:rPr lang="en-US" sz="1200" dirty="0"/>
              <a:t> GL for 3D rendering), and Server-Sent Events (SSE) for zero-polling telemetry.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Optimization Framework:</a:t>
            </a:r>
            <a:r>
              <a:rPr lang="en-US" sz="1200" dirty="0"/>
              <a:t> </a:t>
            </a:r>
            <a:r>
              <a:rPr lang="en-US" sz="1200" dirty="0" err="1"/>
              <a:t>Optuna</a:t>
            </a:r>
            <a:r>
              <a:rPr lang="en-US" sz="1200" dirty="0"/>
              <a:t> hyperparameter tuning for PINN architecture search (hidden units, layers, Fourier bands, and loss weights).</a:t>
            </a:r>
          </a:p>
        </p:txBody>
      </p:sp>
      <p:pic>
        <p:nvPicPr>
          <p:cNvPr id="95" name="Google Shape;87;p4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96" name="Google Shape;88;p4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97" name="Google Shape;89;p4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90" name="Google Shape;90;p4">
            <a:extLst>
              <a:ext uri="{FF2B5EF4-FFF2-40B4-BE49-F238E27FC236}">
                <a16:creationId xmlns:a16="http://schemas.microsoft.com/office/drawing/2014/main" id="{EC58FF61-554B-4E3E-9D4E-9EC32B751D35}"/>
              </a:ext>
            </a:extLst>
          </p:cNvPr>
          <p:cNvSpPr>
            <a:spLocks noGrp="1"/>
          </p:cNvSpPr>
          <p:nvPr/>
        </p:nvSpPr>
        <p:spPr>
          <a:xfrm>
            <a:off x="111000" y="73325"/>
            <a:ext cx="5480400" cy="63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i="0" u="non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TECH STACK</a:t>
            </a:r>
          </a:p>
        </p:txBody>
      </p:sp>
    </p:spTree>
    <p:extLst>
      <p:ext uri="{BB962C8B-B14F-4D97-AF65-F5344CB8AC3E}">
        <p14:creationId xmlns:p14="http://schemas.microsoft.com/office/powerpoint/2010/main" val="1551485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">
            <a:extLst>
              <a:ext uri="{FF2B5EF4-FFF2-40B4-BE49-F238E27FC236}">
                <a16:creationId xmlns:a16="http://schemas.microsoft.com/office/drawing/2014/main" id="{A84AC7A9-D6FF-4F2C-BD1D-6A45F47565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19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algn="l"/>
            <a:r>
              <a:rPr lang="en-US" sz="1200" b="1" dirty="0"/>
              <a:t>Current air-quality response tools leave a critical gap between pollution detection and legally defensible source attribution.</a:t>
            </a:r>
            <a:br>
              <a:rPr lang="en-US" sz="1200" dirty="0"/>
            </a:br>
            <a:r>
              <a:rPr lang="en-US" sz="1200" b="1" dirty="0"/>
              <a:t>Public Dashboards (e.g., </a:t>
            </a:r>
            <a:r>
              <a:rPr lang="en-US" sz="1200" b="1" dirty="0" err="1"/>
              <a:t>AirNow</a:t>
            </a:r>
            <a:r>
              <a:rPr lang="en-US" sz="1200" b="1" dirty="0"/>
              <a:t>, </a:t>
            </a:r>
            <a:r>
              <a:rPr lang="en-US" sz="1200" b="1" dirty="0" err="1"/>
              <a:t>PurpleAir</a:t>
            </a:r>
            <a:r>
              <a:rPr lang="en-US" sz="1200" b="1" dirty="0"/>
              <a:t>):</a:t>
            </a:r>
            <a:br>
              <a:rPr lang="en-US" sz="1200" dirty="0"/>
            </a:br>
            <a:r>
              <a:rPr lang="en-US" sz="1200" i="1" dirty="0"/>
              <a:t>Solution:</a:t>
            </a:r>
            <a:r>
              <a:rPr lang="en-US" sz="1200" dirty="0"/>
              <a:t> Display real-time, localized IoT sensor data.</a:t>
            </a:r>
            <a:br>
              <a:rPr lang="en-US" sz="1200" dirty="0"/>
            </a:br>
            <a:r>
              <a:rPr lang="en-US" sz="1200" i="1" dirty="0"/>
              <a:t>Drawback:</a:t>
            </a:r>
            <a:r>
              <a:rPr lang="en-US" sz="1200" dirty="0"/>
              <a:t> They only show that pollution occurred, but lack the physical models to prove </a:t>
            </a:r>
            <a:r>
              <a:rPr lang="en-US" sz="1200" i="1" dirty="0"/>
              <a:t>which</a:t>
            </a:r>
            <a:r>
              <a:rPr lang="en-US" sz="1200" dirty="0"/>
              <a:t> upstream facility caused it.</a:t>
            </a:r>
            <a:br>
              <a:rPr lang="en-US" sz="1200" dirty="0"/>
            </a:br>
            <a:r>
              <a:rPr lang="en-US" sz="1200" b="1" dirty="0"/>
              <a:t>Offline Dispersion Models (e.g., AERMOD, CALPUFF):</a:t>
            </a:r>
            <a:br>
              <a:rPr lang="en-US" sz="1200" dirty="0"/>
            </a:br>
            <a:r>
              <a:rPr lang="en-US" sz="1200" i="1" dirty="0"/>
              <a:t>Solution:</a:t>
            </a:r>
            <a:r>
              <a:rPr lang="en-US" sz="1200" dirty="0"/>
              <a:t> Provide highly accurate, EPA-approved plume modeling.</a:t>
            </a:r>
            <a:br>
              <a:rPr lang="en-US" sz="1200" dirty="0"/>
            </a:br>
            <a:r>
              <a:rPr lang="en-US" sz="1200" i="1" dirty="0"/>
              <a:t>Drawback:</a:t>
            </a:r>
            <a:r>
              <a:rPr lang="en-US" sz="1200" dirty="0"/>
              <a:t> They require hours or days of manual data-gathering and setup by an expert, making them too slow for real-time incident triage.</a:t>
            </a:r>
            <a:br>
              <a:rPr lang="en-US" sz="1200" dirty="0"/>
            </a:br>
            <a:r>
              <a:rPr lang="en-US" sz="1200" b="1" dirty="0"/>
              <a:t>Generic AI Anomaly Detection:</a:t>
            </a:r>
            <a:br>
              <a:rPr lang="en-US" sz="1200" dirty="0"/>
            </a:br>
            <a:r>
              <a:rPr lang="en-US" sz="1200" i="1" dirty="0"/>
              <a:t>Solution:</a:t>
            </a:r>
            <a:r>
              <a:rPr lang="en-US" sz="1200" dirty="0"/>
              <a:t> Use statistical machine learning to flag unusual sensor patterns.</a:t>
            </a:r>
            <a:br>
              <a:rPr lang="en-US" sz="1200" dirty="0"/>
            </a:br>
            <a:r>
              <a:rPr lang="en-US" sz="1200" i="1" dirty="0"/>
              <a:t>Drawback:</a:t>
            </a:r>
            <a:r>
              <a:rPr lang="en-US" sz="1200" dirty="0"/>
              <a:t> They lack physical constraints (conservation of mass, fluid dynamics), producing "black box" source estimates that are difficult to defend in regulatory court proceedings.</a:t>
            </a:r>
            <a:br>
              <a:rPr lang="en-US" sz="1200" dirty="0"/>
            </a:br>
            <a:r>
              <a:rPr lang="en-US" sz="1200" b="1" dirty="0"/>
              <a:t>Manual Enforcement Workflows:</a:t>
            </a:r>
            <a:br>
              <a:rPr lang="en-US" sz="1200" dirty="0"/>
            </a:br>
            <a:r>
              <a:rPr lang="en-US" sz="1200" i="1" dirty="0"/>
              <a:t>Solution:</a:t>
            </a:r>
            <a:r>
              <a:rPr lang="en-US" sz="1200" dirty="0"/>
              <a:t> Dispatch teams to cross-reference property maps and write warnings.</a:t>
            </a:r>
            <a:br>
              <a:rPr lang="en-US" sz="1200" dirty="0"/>
            </a:br>
            <a:r>
              <a:rPr lang="en-US" sz="1200" i="1" dirty="0"/>
              <a:t>Drawback:</a:t>
            </a:r>
            <a:r>
              <a:rPr lang="en-US" sz="1200" dirty="0"/>
              <a:t> Creates inconsistent, fragmented evidence trails and severely slows down the enforcement response.</a:t>
            </a:r>
          </a:p>
        </p:txBody>
      </p:sp>
      <p:pic>
        <p:nvPicPr>
          <p:cNvPr id="104" name="Google Shape;96;p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105" name="Google Shape;97;p5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106" name="Google Shape;98;p5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99" name="Google Shape;99;p5">
            <a:extLst>
              <a:ext uri="{FF2B5EF4-FFF2-40B4-BE49-F238E27FC236}">
                <a16:creationId xmlns:a16="http://schemas.microsoft.com/office/drawing/2014/main" id="{3B3BAC6E-A4D3-48B1-A45B-0C2E408B72FB}"/>
              </a:ext>
            </a:extLst>
          </p:cNvPr>
          <p:cNvSpPr>
            <a:spLocks noGrp="1"/>
          </p:cNvSpPr>
          <p:nvPr/>
        </p:nvSpPr>
        <p:spPr>
          <a:xfrm>
            <a:off x="41625" y="63425"/>
            <a:ext cx="7492200" cy="60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i="0" u="non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EXISTING SOLUTIONS &amp; DRAWBACKS </a:t>
            </a:r>
          </a:p>
        </p:txBody>
      </p:sp>
    </p:spTree>
    <p:extLst>
      <p:ext uri="{BB962C8B-B14F-4D97-AF65-F5344CB8AC3E}">
        <p14:creationId xmlns:p14="http://schemas.microsoft.com/office/powerpoint/2010/main" val="1202381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">
            <a:extLst>
              <a:ext uri="{FF2B5EF4-FFF2-40B4-BE49-F238E27FC236}">
                <a16:creationId xmlns:a16="http://schemas.microsoft.com/office/drawing/2014/main" id="{CDC151FA-6D74-4908-A379-3E1326DAF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286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algn="l"/>
            <a:r>
              <a:rPr lang="en-US" sz="1400" b="1" dirty="0"/>
              <a:t>When a sensor reading exceeds safe limits (SO₂ ≥ 75 ppb or PM2.5 ≥ 35 µg/m³), </a:t>
            </a:r>
            <a:r>
              <a:rPr lang="en-US" sz="1400" b="1" dirty="0" err="1"/>
              <a:t>PlumeTrace</a:t>
            </a:r>
            <a:r>
              <a:rPr lang="en-US" sz="1400" b="1" dirty="0"/>
              <a:t> executes a five-stage analytical response:</a:t>
            </a:r>
            <a:br>
              <a:rPr lang="en-US" sz="1400" b="1" dirty="0"/>
            </a:br>
            <a:br>
              <a:rPr lang="en-US" sz="1400" dirty="0"/>
            </a:br>
            <a:r>
              <a:rPr lang="en-US" sz="1400" b="1" dirty="0"/>
              <a:t>Ingestion &amp; Validation:</a:t>
            </a:r>
            <a:r>
              <a:rPr lang="en-US" sz="1400" dirty="0"/>
              <a:t> Validate live telemetry via strict </a:t>
            </a:r>
            <a:r>
              <a:rPr lang="en-US" sz="1400" dirty="0" err="1"/>
              <a:t>Pydantic</a:t>
            </a:r>
            <a:r>
              <a:rPr lang="en-US" sz="1400" dirty="0"/>
              <a:t> v2 schemas and persist the reading to the SQLite event database.</a:t>
            </a:r>
            <a:br>
              <a:rPr lang="en-US" sz="1400" dirty="0"/>
            </a:br>
            <a:r>
              <a:rPr lang="en-US" sz="1400" b="1" dirty="0"/>
              <a:t>Broadcast &amp; Trigger:</a:t>
            </a:r>
            <a:r>
              <a:rPr lang="en-US" sz="1400" dirty="0"/>
              <a:t> Broadcast the hazard alert to all connected dashboard clients via SSE and trigger the </a:t>
            </a:r>
            <a:r>
              <a:rPr lang="en-US" sz="1400" dirty="0" err="1"/>
              <a:t>LangGraph</a:t>
            </a:r>
            <a:r>
              <a:rPr lang="en-US" sz="1400" dirty="0"/>
              <a:t> agent state-machine.</a:t>
            </a:r>
            <a:br>
              <a:rPr lang="en-US" sz="1400" dirty="0"/>
            </a:br>
            <a:r>
              <a:rPr lang="en-US" sz="1400" b="1" dirty="0"/>
              <a:t>4D Physics-Inversion:</a:t>
            </a:r>
            <a:r>
              <a:rPr lang="en-US" sz="1400" dirty="0"/>
              <a:t> Run the 4D PINN inverse solver. It evaluates source probability over a spatial grid, fuses it with physics-based likelihood, and estimates upstream emission coordinates with uncertainty quantification.</a:t>
            </a:r>
            <a:br>
              <a:rPr lang="en-US" sz="1400" dirty="0"/>
            </a:br>
            <a:r>
              <a:rPr lang="en-US" sz="1400" b="1" dirty="0"/>
              <a:t>Forensic Snapping:</a:t>
            </a:r>
            <a:r>
              <a:rPr lang="en-US" sz="1400" dirty="0"/>
              <a:t> Snap predicted coordinates to the nearest municipal facility using wind-aware scoring, then retrieve the facility's compliance history and zoning permits.</a:t>
            </a:r>
            <a:br>
              <a:rPr lang="en-US" sz="1400" dirty="0"/>
            </a:br>
            <a:r>
              <a:rPr lang="en-US" sz="1400" b="1" dirty="0"/>
              <a:t>Regulatory Drafting:</a:t>
            </a:r>
            <a:r>
              <a:rPr lang="en-US" sz="1400" dirty="0"/>
              <a:t> Draft a three-paragraph regulatory enforcement warning using RAG-retrieved Clean Air Act guidelines and present it for human-in-the-loop review.</a:t>
            </a:r>
          </a:p>
        </p:txBody>
      </p:sp>
      <p:pic>
        <p:nvPicPr>
          <p:cNvPr id="113" name="Google Shape;105;p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114" name="Google Shape;106;p6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115" name="Google Shape;107;p6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108" name="Google Shape;108;p6">
            <a:extLst>
              <a:ext uri="{FF2B5EF4-FFF2-40B4-BE49-F238E27FC236}">
                <a16:creationId xmlns:a16="http://schemas.microsoft.com/office/drawing/2014/main" id="{4D8F1A2E-7E48-482B-9BB1-3BB5DA31C06F}"/>
              </a:ext>
            </a:extLst>
          </p:cNvPr>
          <p:cNvSpPr>
            <a:spLocks noGrp="1"/>
          </p:cNvSpPr>
          <p:nvPr/>
        </p:nvSpPr>
        <p:spPr>
          <a:xfrm>
            <a:off x="71350" y="83250"/>
            <a:ext cx="4410000" cy="6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i="0" u="non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PROPOSED SOLUTION</a:t>
            </a:r>
          </a:p>
        </p:txBody>
      </p:sp>
    </p:spTree>
    <p:extLst>
      <p:ext uri="{BB962C8B-B14F-4D97-AF65-F5344CB8AC3E}">
        <p14:creationId xmlns:p14="http://schemas.microsoft.com/office/powerpoint/2010/main" val="12088319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>
            <a:extLst>
              <a:ext uri="{FF2B5EF4-FFF2-40B4-BE49-F238E27FC236}">
                <a16:creationId xmlns:a16="http://schemas.microsoft.com/office/drawing/2014/main" id="{F8D5AEF7-BD2F-46B6-9A9B-4D3BF68BE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33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algn="l"/>
            <a:r>
              <a:rPr lang="en-US" sz="1400" b="1" dirty="0"/>
              <a:t>Telemetry Path:</a:t>
            </a:r>
            <a:r>
              <a:rPr lang="en-US" sz="1400" dirty="0"/>
              <a:t> IoT Sensors → MQTT Broker (city/</a:t>
            </a:r>
            <a:r>
              <a:rPr lang="en-US" sz="1400" dirty="0" err="1"/>
              <a:t>airquality</a:t>
            </a:r>
            <a:r>
              <a:rPr lang="en-US" sz="1400" dirty="0"/>
              <a:t>/+) → </a:t>
            </a:r>
            <a:r>
              <a:rPr lang="en-US" sz="1400" dirty="0" err="1"/>
              <a:t>FastAPI</a:t>
            </a:r>
            <a:r>
              <a:rPr lang="en-US" sz="1400" dirty="0"/>
              <a:t> </a:t>
            </a:r>
            <a:r>
              <a:rPr lang="en-US" sz="1400" dirty="0" err="1"/>
              <a:t>gmqtt</a:t>
            </a:r>
            <a:r>
              <a:rPr lang="en-US" sz="1400" dirty="0"/>
              <a:t> listener → </a:t>
            </a:r>
            <a:r>
              <a:rPr lang="en-US" sz="1400" dirty="0" err="1"/>
              <a:t>Pydantic</a:t>
            </a:r>
            <a:r>
              <a:rPr lang="en-US" sz="1400" dirty="0"/>
              <a:t> v2 validation → SQLite persistence → SSE broadcast → React dashboard.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Hazard Path:</a:t>
            </a:r>
            <a:r>
              <a:rPr lang="en-US" sz="1400" dirty="0"/>
              <a:t> Alert triage → Meteorological vector extraction → 4D PINN source-inversion bridge (Fourier Residual + physics-fused posterior) → Municipal property registry search → RAG policy retrieval → Compliance report generation → Human-in-the-loop review panel.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Asynchronous Design:</a:t>
            </a:r>
            <a:r>
              <a:rPr lang="en-US" sz="1400" dirty="0"/>
              <a:t> The architecture is fully asynchronous at every boundary. MQTT ingestion, SSE broadcasting, PINN inference (offloaded to a thread pool), and </a:t>
            </a:r>
            <a:r>
              <a:rPr lang="en-US" sz="1400" dirty="0" err="1"/>
              <a:t>LangGraph</a:t>
            </a:r>
            <a:r>
              <a:rPr lang="en-US" sz="1400" dirty="0"/>
              <a:t> agent execution run concurrently without ever blocking the API server.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Fault Tolerance:</a:t>
            </a:r>
            <a:r>
              <a:rPr lang="en-US" sz="1400" dirty="0"/>
              <a:t> Server-Sent Events (SSE) connections feature automatic exponential backoff reconnection (1s → 2s → 4s → max 30s), ensuring the React dashboard recovers seamlessly from backend restarts or network interruptions.</a:t>
            </a:r>
          </a:p>
        </p:txBody>
      </p:sp>
      <p:pic>
        <p:nvPicPr>
          <p:cNvPr id="122" name="Google Shape;114;p7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123" name="Google Shape;115;p7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124" name="Google Shape;116;p7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117" name="Google Shape;117;p7">
            <a:extLst>
              <a:ext uri="{FF2B5EF4-FFF2-40B4-BE49-F238E27FC236}">
                <a16:creationId xmlns:a16="http://schemas.microsoft.com/office/drawing/2014/main" id="{8F8167A5-B972-47F2-B53D-1FF317212124}"/>
              </a:ext>
            </a:extLst>
          </p:cNvPr>
          <p:cNvSpPr>
            <a:spLocks noGrp="1"/>
          </p:cNvSpPr>
          <p:nvPr/>
        </p:nvSpPr>
        <p:spPr>
          <a:xfrm>
            <a:off x="71350" y="53525"/>
            <a:ext cx="56787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ctr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i="0" u="non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ARCHITECTURE / WORKFLOW</a:t>
            </a:r>
          </a:p>
        </p:txBody>
      </p:sp>
    </p:spTree>
    <p:extLst>
      <p:ext uri="{BB962C8B-B14F-4D97-AF65-F5344CB8AC3E}">
        <p14:creationId xmlns:p14="http://schemas.microsoft.com/office/powerpoint/2010/main" val="1258006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8">
            <a:extLst>
              <a:ext uri="{FF2B5EF4-FFF2-40B4-BE49-F238E27FC236}">
                <a16:creationId xmlns:a16="http://schemas.microsoft.com/office/drawing/2014/main" id="{3B20502C-21F1-4559-A72B-D2B286CF1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33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algn="l"/>
            <a:r>
              <a:rPr lang="en-US" sz="1200" b="1" dirty="0"/>
              <a:t>Neuro-Symbolic Response Loop:</a:t>
            </a:r>
            <a:r>
              <a:rPr lang="en-US" sz="1200" dirty="0"/>
              <a:t> Deterministic hazard thresholds and hard-coded municipal registry rules are used to frame and constrain AI-generated enforcement text, ensuring legal defensibility rather than relying solely on LLM hallucination.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4D Physics-Informed Source Attribution:</a:t>
            </a:r>
            <a:r>
              <a:rPr lang="en-US" sz="1200" dirty="0"/>
              <a:t> The PINN is mathematically constrained by the 4D Advection-Diffusion equation: ∂C/∂t + u·∂C/∂x + v·∂C/∂y + w·∂C/∂z − Dh·(∂²C/∂x² + ∂²C/∂y²) − </a:t>
            </a:r>
            <a:r>
              <a:rPr lang="en-US" sz="1200" dirty="0" err="1"/>
              <a:t>Dv</a:t>
            </a:r>
            <a:r>
              <a:rPr lang="en-US" sz="1200" dirty="0"/>
              <a:t>·∂²C/∂z² = 0. This incorporates vertical transport and altitude-aware sensing, unlike flat 2D models.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Physics-Fused Bayesian Posterior:</a:t>
            </a:r>
            <a:r>
              <a:rPr lang="en-US" sz="1200" dirty="0"/>
              <a:t> The PINN's neural prior is multiplied by an analytic advection-diffusion likelihood function. This produces calibrated source probability maps with spatial </a:t>
            </a:r>
            <a:r>
              <a:rPr lang="en-US" sz="1200" i="1" dirty="0"/>
              <a:t>uncertainty quantification</a:t>
            </a:r>
            <a:r>
              <a:rPr lang="en-US" sz="1200" dirty="0"/>
              <a:t> (telling the operator exactly how confident the model is).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RAG-Augmented Legal Drafting:</a:t>
            </a:r>
            <a:r>
              <a:rPr lang="en-US" sz="1200" dirty="0"/>
              <a:t> Enforcement reports aren't just generic warnings. They are grounded in dynamically retrieved sections of the Clean Air Act and local municipal zoning codes via TF-IDF vector search.</a:t>
            </a:r>
            <a:br>
              <a:rPr lang="en-US" sz="1200" dirty="0"/>
            </a:br>
            <a:br>
              <a:rPr lang="en-US" sz="1200" dirty="0"/>
            </a:br>
            <a:r>
              <a:rPr lang="en-US" sz="1200" b="1" dirty="0"/>
              <a:t>Human-in-the-Loop Safeguard:</a:t>
            </a:r>
            <a:r>
              <a:rPr lang="en-US" sz="1200" dirty="0"/>
              <a:t> Operators can approve, reject, or request AI-powered refinements to draft reports before dispatch — maintaining strict human oversight over autonomous enforcement actions.</a:t>
            </a:r>
          </a:p>
        </p:txBody>
      </p:sp>
      <p:pic>
        <p:nvPicPr>
          <p:cNvPr id="131" name="Google Shape;123;p8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132" name="Google Shape;124;p8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133" name="Google Shape;125;p8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126" name="Google Shape;126;p8">
            <a:extLst>
              <a:ext uri="{FF2B5EF4-FFF2-40B4-BE49-F238E27FC236}">
                <a16:creationId xmlns:a16="http://schemas.microsoft.com/office/drawing/2014/main" id="{72EDA1CD-49D7-4947-AFDD-184CE8007290}"/>
              </a:ext>
            </a:extLst>
          </p:cNvPr>
          <p:cNvSpPr>
            <a:spLocks noGrp="1"/>
          </p:cNvSpPr>
          <p:nvPr/>
        </p:nvSpPr>
        <p:spPr>
          <a:xfrm>
            <a:off x="71350" y="53525"/>
            <a:ext cx="56787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i="0" u="non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UNIQUENESS / INNOVATION</a:t>
            </a:r>
          </a:p>
        </p:txBody>
      </p:sp>
    </p:spTree>
    <p:extLst>
      <p:ext uri="{BB962C8B-B14F-4D97-AF65-F5344CB8AC3E}">
        <p14:creationId xmlns:p14="http://schemas.microsoft.com/office/powerpoint/2010/main" val="428395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9">
            <a:extLst>
              <a:ext uri="{FF2B5EF4-FFF2-40B4-BE49-F238E27FC236}">
                <a16:creationId xmlns:a16="http://schemas.microsoft.com/office/drawing/2014/main" id="{4520C00B-8539-43F4-A266-5A40829F3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33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 fontScale="90000"/>
          </a:bodyPr>
          <a:lstStyle/>
          <a:p>
            <a:pPr algn="l"/>
            <a:r>
              <a:rPr lang="en-US" sz="1300" b="1" dirty="0"/>
              <a:t>ADVANTAGES</a:t>
            </a:r>
            <a:br>
              <a:rPr lang="en-US" sz="1100" dirty="0"/>
            </a:br>
            <a:r>
              <a:rPr lang="en-US" sz="1100" b="1" dirty="0"/>
              <a:t>Sub-Second Response:</a:t>
            </a:r>
            <a:r>
              <a:rPr lang="en-US" sz="1100" dirty="0"/>
              <a:t> Performs source attribution during municipal hazard events in under a second, replacing what is traditionally hours of manual traceback.</a:t>
            </a:r>
            <a:br>
              <a:rPr lang="en-US" sz="1100" dirty="0"/>
            </a:br>
            <a:br>
              <a:rPr lang="en-US" sz="1100" dirty="0"/>
            </a:br>
            <a:r>
              <a:rPr lang="en-US" sz="1100" b="1" dirty="0"/>
              <a:t>Complete Evidence Chain:</a:t>
            </a:r>
            <a:r>
              <a:rPr lang="en-US" sz="1100" dirty="0"/>
              <a:t> Links sensor coordinates → wind vectors → PINN AI inference → registry data → regulatory citation → human approval into a single, auditable flow.</a:t>
            </a:r>
            <a:br>
              <a:rPr lang="en-US" sz="1100" dirty="0"/>
            </a:br>
            <a:br>
              <a:rPr lang="en-US" sz="1100" dirty="0"/>
            </a:br>
            <a:r>
              <a:rPr lang="en-US" sz="1100" b="1" dirty="0"/>
              <a:t>Modular Architecture:</a:t>
            </a:r>
            <a:r>
              <a:rPr lang="en-US" sz="1100" dirty="0"/>
              <a:t> Easy to scale or adapt. SQLite can be swapped for </a:t>
            </a:r>
            <a:r>
              <a:rPr lang="en-US" sz="1100" dirty="0" err="1"/>
              <a:t>PostGIS</a:t>
            </a:r>
            <a:r>
              <a:rPr lang="en-US" sz="1100" dirty="0"/>
              <a:t>, mock weather for live NOAA APIs, and synthetic sensors for real industrial stations</a:t>
            </a:r>
            <a:br>
              <a:rPr lang="en-US" sz="1100" dirty="0"/>
            </a:br>
            <a:r>
              <a:rPr lang="en-US" sz="1100" dirty="0"/>
              <a:t>.</a:t>
            </a:r>
            <a:br>
              <a:rPr lang="en-US" sz="1100" dirty="0"/>
            </a:br>
            <a:r>
              <a:rPr lang="en-US" sz="1100" b="1" dirty="0"/>
              <a:t>Resilient Dashboard:</a:t>
            </a:r>
            <a:r>
              <a:rPr lang="en-US" sz="1100" dirty="0"/>
              <a:t> Features automatic SSE reconnection, ensuring operators don't lose live tracking if the network drops or the server restarts.</a:t>
            </a:r>
            <a:br>
              <a:rPr lang="en-US" sz="1050" dirty="0"/>
            </a:br>
            <a:br>
              <a:rPr lang="en-US" sz="1300" dirty="0"/>
            </a:br>
            <a:r>
              <a:rPr lang="en-US" sz="1300" b="1" dirty="0"/>
              <a:t>LIMITATIONS</a:t>
            </a:r>
            <a:br>
              <a:rPr lang="en-US" sz="1300" b="1" dirty="0"/>
            </a:br>
            <a:br>
              <a:rPr lang="en-US" sz="1050" dirty="0"/>
            </a:br>
            <a:r>
              <a:rPr lang="en-US" sz="1050" b="1" dirty="0"/>
              <a:t>Synthetic Data Dependency:</a:t>
            </a:r>
            <a:r>
              <a:rPr lang="en-US" sz="1050" dirty="0"/>
              <a:t> The current prototype uses four synthetic sensors and static property records. Real deployments require calibration with actual terrain and historical boundary-layer data.</a:t>
            </a:r>
            <a:br>
              <a:rPr lang="en-US" sz="1050" dirty="0"/>
            </a:br>
            <a:br>
              <a:rPr lang="en-US" sz="1050" dirty="0"/>
            </a:br>
            <a:r>
              <a:rPr lang="en-US" sz="1050" b="1" dirty="0"/>
              <a:t>Compute Constraints:</a:t>
            </a:r>
            <a:r>
              <a:rPr lang="en-US" sz="1050" dirty="0"/>
              <a:t> PINN inference currently runs on the CPU for the demo. Production deployments covering large urban grids would require GPU acceleration or ONNX compilation for edge hardware to maintain sub-second performance.</a:t>
            </a:r>
            <a:br>
              <a:rPr lang="en-US" sz="1050" dirty="0"/>
            </a:br>
            <a:br>
              <a:rPr lang="en-US" sz="1050" dirty="0"/>
            </a:br>
            <a:endParaRPr sz="1050" dirty="0">
              <a:solidFill>
                <a:srgbClr val="020618"/>
              </a:solidFill>
            </a:endParaRPr>
          </a:p>
        </p:txBody>
      </p:sp>
      <p:pic>
        <p:nvPicPr>
          <p:cNvPr id="140" name="Google Shape;132;p9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141" name="Google Shape;133;p9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142" name="Google Shape;134;p9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135" name="Google Shape;135;p9">
            <a:extLst>
              <a:ext uri="{FF2B5EF4-FFF2-40B4-BE49-F238E27FC236}">
                <a16:creationId xmlns:a16="http://schemas.microsoft.com/office/drawing/2014/main" id="{1E019B72-AD1C-4406-A3E5-0C50AF6A189E}"/>
              </a:ext>
            </a:extLst>
          </p:cNvPr>
          <p:cNvSpPr>
            <a:spLocks noGrp="1"/>
          </p:cNvSpPr>
          <p:nvPr/>
        </p:nvSpPr>
        <p:spPr>
          <a:xfrm>
            <a:off x="71350" y="53525"/>
            <a:ext cx="56787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ctr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2800" b="1" i="0" u="non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ADVANTAGES &amp; LIMITATIONS</a:t>
            </a:r>
          </a:p>
        </p:txBody>
      </p:sp>
    </p:spTree>
    <p:extLst>
      <p:ext uri="{BB962C8B-B14F-4D97-AF65-F5344CB8AC3E}">
        <p14:creationId xmlns:p14="http://schemas.microsoft.com/office/powerpoint/2010/main" val="13187277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">
            <a:extLst>
              <a:ext uri="{FF2B5EF4-FFF2-40B4-BE49-F238E27FC236}">
                <a16:creationId xmlns:a16="http://schemas.microsoft.com/office/drawing/2014/main" id="{8706A255-7104-4C83-8084-152FCDD4B2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850" y="1066800"/>
            <a:ext cx="8334375" cy="3190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rmAutofit/>
          </a:bodyPr>
          <a:lstStyle/>
          <a:p>
            <a:pPr algn="l"/>
            <a:r>
              <a:rPr lang="en-US" sz="1400" b="1" dirty="0" err="1"/>
              <a:t>PlumeTrace</a:t>
            </a:r>
            <a:r>
              <a:rPr lang="en-US" sz="1400" b="1" dirty="0"/>
              <a:t> demonstrates a practical smart-city response loop: detect, attribute, document, and escalate — all within seconds of a hazardous air quality event.</a:t>
            </a:r>
            <a:br>
              <a:rPr lang="en-US" sz="1400" b="1" dirty="0"/>
            </a:br>
            <a:br>
              <a:rPr lang="en-US" sz="1400" dirty="0"/>
            </a:br>
            <a:r>
              <a:rPr lang="en-US" sz="1400" b="1" dirty="0"/>
              <a:t>End-to-End Success:</a:t>
            </a:r>
            <a:r>
              <a:rPr lang="en-US" sz="1400" dirty="0"/>
              <a:t> The prototype runs flawlessly from end to end: MQTT telemetry ingestion → 4D PINN inverse dispersion → </a:t>
            </a:r>
            <a:r>
              <a:rPr lang="en-US" sz="1400" dirty="0" err="1"/>
              <a:t>LangGraph</a:t>
            </a:r>
            <a:r>
              <a:rPr lang="en-US" sz="1400" dirty="0"/>
              <a:t> agent orchestration → RAG-augmented enforcement drafting → human-in-the-loop review.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Live Verification:</a:t>
            </a:r>
            <a:r>
              <a:rPr lang="en-US" sz="1400" dirty="0"/>
              <a:t> The system has been successfully smoke-tested and verified with live sensor streams, real-time WebSocket dashboard updates, and browser-rendered compliance reports.</a:t>
            </a:r>
            <a:br>
              <a:rPr lang="en-US" sz="1400" dirty="0"/>
            </a:br>
            <a:br>
              <a:rPr lang="en-US" sz="1400" dirty="0"/>
            </a:br>
            <a:r>
              <a:rPr lang="en-US" sz="1400" b="1" dirty="0"/>
              <a:t>Next Milestones:</a:t>
            </a:r>
            <a:r>
              <a:rPr lang="en-US" sz="1400" dirty="0"/>
              <a:t> Future developments include integrating live NOAA meteorological APIs, enabling multi-pollutant cross-correlation (e.g., SO₂ + VOC fingerprinting), deploying a </a:t>
            </a:r>
            <a:r>
              <a:rPr lang="en-US" sz="1400" dirty="0" err="1"/>
              <a:t>PostGIS</a:t>
            </a:r>
            <a:r>
              <a:rPr lang="en-US" sz="1400" dirty="0"/>
              <a:t> spatial database, and building a mobile field-verification companion app for on-site inspectors.</a:t>
            </a:r>
          </a:p>
        </p:txBody>
      </p:sp>
      <p:pic>
        <p:nvPicPr>
          <p:cNvPr id="150" name="Google Shape;141;p10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151" name="Google Shape;142;p10"/>
          <p:cNvPicPr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pic>
        <p:nvPicPr>
          <p:cNvPr id="152" name="Google Shape;143;p10"/>
          <p:cNvPicPr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4452250" y="436550"/>
            <a:ext cx="256675" cy="9157225"/>
          </a:xfrm>
          <a:prstGeom prst="rect">
            <a:avLst/>
          </a:prstGeom>
          <a:ln>
            <a:noFill/>
          </a:ln>
        </p:spPr>
      </p:pic>
      <p:sp>
        <p:nvSpPr>
          <p:cNvPr id="144" name="Google Shape;144;p10">
            <a:extLst>
              <a:ext uri="{FF2B5EF4-FFF2-40B4-BE49-F238E27FC236}">
                <a16:creationId xmlns:a16="http://schemas.microsoft.com/office/drawing/2014/main" id="{8D2C8C09-6680-4084-AA5A-D6EB2455B864}"/>
              </a:ext>
            </a:extLst>
          </p:cNvPr>
          <p:cNvSpPr>
            <a:spLocks noGrp="1"/>
          </p:cNvSpPr>
          <p:nvPr/>
        </p:nvSpPr>
        <p:spPr>
          <a:xfrm>
            <a:off x="213018" y="-584700"/>
            <a:ext cx="56787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0">
            <a:extLst>
              <a:ext uri="{FF2B5EF4-FFF2-40B4-BE49-F238E27FC236}">
                <a16:creationId xmlns:a16="http://schemas.microsoft.com/office/drawing/2014/main" id="{4224717E-4A5D-4F1E-A4A6-D64B1A15F566}"/>
              </a:ext>
            </a:extLst>
          </p:cNvPr>
          <p:cNvSpPr>
            <a:spLocks noGrp="1"/>
          </p:cNvSpPr>
          <p:nvPr/>
        </p:nvSpPr>
        <p:spPr>
          <a:xfrm>
            <a:off x="2831205" y="-75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>
            <a:spAutoFit/>
          </a:bodyPr>
          <a:lstStyle/>
          <a:p>
            <a:pPr marL="0" indent="0" algn="ctr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3000" b="1" i="0" u="non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181779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1">
            <a:extLst>
              <a:ext uri="{FF2B5EF4-FFF2-40B4-BE49-F238E27FC236}">
                <a16:creationId xmlns:a16="http://schemas.microsoft.com/office/drawing/2014/main" id="{C2AAA7C8-5139-44EE-B109-E429ABE8AC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424" y="1026701"/>
            <a:ext cx="8490801" cy="3335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 fontScale="90000"/>
          </a:bodyPr>
          <a:lstStyle/>
          <a:p>
            <a:pPr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defRPr sz="1163">
                <a:solidFill>
                  <a:srgbClr val="020618"/>
                </a:solidFill>
              </a:defRPr>
            </a:pPr>
            <a:br>
              <a:rPr lang="en-US" sz="1163" dirty="0"/>
            </a:br>
            <a:br>
              <a:rPr lang="en-US" sz="1163" dirty="0"/>
            </a:br>
            <a:br>
              <a:rPr lang="en-US" sz="1163" dirty="0"/>
            </a:br>
            <a:r>
              <a:rPr lang="en-US" sz="1163" b="1" dirty="0"/>
              <a:t>Physics-Informed Neural Networks for Joint Source and Parameter Estimation in Advection-Diffusion Equations</a:t>
            </a:r>
            <a:br>
              <a:rPr lang="en-US" sz="1163" b="1" dirty="0"/>
            </a:br>
            <a:r>
              <a:rPr lang="en-US" sz="1163" dirty="0">
                <a:hlinkClick r:id="rId3"/>
              </a:rPr>
              <a:t>https://arxiv.org/abs/2512.07755</a:t>
            </a:r>
            <a:br>
              <a:rPr lang="en-US" sz="1163" dirty="0"/>
            </a:br>
            <a:br>
              <a:rPr lang="en-US" sz="1163" b="1" dirty="0"/>
            </a:br>
            <a:r>
              <a:rPr lang="en-US" sz="1163" b="1" dirty="0"/>
              <a:t>Application of Physics-Informed Neural Networks for Solving the Inverse Advection-Diffusion Problem to Localize Pollution Sources</a:t>
            </a:r>
            <a:r>
              <a:rPr lang="en-US" sz="1163" dirty="0"/>
              <a:t> (March 2025)</a:t>
            </a:r>
            <a:br>
              <a:rPr lang="en-US" sz="1163" dirty="0"/>
            </a:br>
            <a:r>
              <a:rPr lang="en-US" sz="1163" dirty="0">
                <a:hlinkClick r:id="rId4"/>
              </a:rPr>
              <a:t>https://arxiv.org/abs/2503.18849</a:t>
            </a:r>
            <a:br>
              <a:rPr lang="en-US" sz="1163" dirty="0"/>
            </a:br>
            <a:br>
              <a:rPr lang="en-US" sz="1163" dirty="0"/>
            </a:br>
            <a:r>
              <a:rPr lang="en-US" sz="1163" b="1" dirty="0"/>
              <a:t>Physics-Informed Neural Networks (PINN Core Architecture):</a:t>
            </a:r>
            <a:r>
              <a:rPr lang="en-US" sz="1163" dirty="0"/>
              <a:t> </a:t>
            </a:r>
            <a:r>
              <a:rPr lang="en-US" sz="1163" dirty="0" err="1"/>
              <a:t>Raissi</a:t>
            </a:r>
            <a:r>
              <a:rPr lang="en-US" sz="1163" dirty="0"/>
              <a:t>, M., </a:t>
            </a:r>
            <a:r>
              <a:rPr lang="en-US" sz="1163" dirty="0" err="1"/>
              <a:t>Perdikaris</a:t>
            </a:r>
            <a:r>
              <a:rPr lang="en-US" sz="1163" dirty="0"/>
              <a:t>, P., &amp; </a:t>
            </a:r>
            <a:r>
              <a:rPr lang="en-US" sz="1163" dirty="0" err="1"/>
              <a:t>Karniadakis</a:t>
            </a:r>
            <a:r>
              <a:rPr lang="en-US" sz="1163" dirty="0"/>
              <a:t>, G. E. (2019). </a:t>
            </a:r>
            <a:r>
              <a:rPr lang="en-US" sz="1163" i="1" dirty="0"/>
              <a:t>Physics-informed neural networks: A deep learning framework for solving forward and inverse problems involving nonlinear partial differential equations.</a:t>
            </a:r>
            <a:r>
              <a:rPr lang="en-US" sz="1163" dirty="0"/>
              <a:t> Journal of Computational Physics, 378, 686-707.</a:t>
            </a:r>
            <a:br>
              <a:rPr lang="en-US" sz="1163" dirty="0"/>
            </a:br>
            <a:br>
              <a:rPr lang="en-US" sz="1163" dirty="0">
                <a:hlinkClick r:id="rId5"/>
              </a:rPr>
            </a:br>
            <a:r>
              <a:rPr lang="en-US" sz="1163" dirty="0">
                <a:hlinkClick r:id="rId5"/>
              </a:rPr>
              <a:t>    https://faculty.sites.iastate.edu/hliu/files/inline-files/PINN_RPK_2019_1.pdf</a:t>
            </a:r>
            <a:br>
              <a:rPr lang="en-US" sz="1163" dirty="0"/>
            </a:br>
            <a:br>
              <a:rPr lang="en-US" sz="1163" dirty="0"/>
            </a:br>
            <a:br>
              <a:rPr lang="en-US" sz="1163" dirty="0"/>
            </a:br>
            <a:br>
              <a:rPr lang="en-US" sz="1163" dirty="0"/>
            </a:br>
            <a:br>
              <a:rPr lang="en-US" sz="1163" dirty="0"/>
            </a:br>
            <a:br>
              <a:rPr lang="en-US" sz="1163" dirty="0"/>
            </a:br>
            <a:endParaRPr sz="1163" dirty="0">
              <a:solidFill>
                <a:srgbClr val="020618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59" name="Google Shape;151;p11"/>
          <p:cNvPicPr>
            <a:picLocks noChangeAspect="1"/>
          </p:cNvPicPr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4717650"/>
            <a:ext cx="9144001" cy="211800"/>
          </a:xfrm>
          <a:prstGeom prst="rect">
            <a:avLst/>
          </a:prstGeom>
          <a:ln>
            <a:noFill/>
          </a:ln>
        </p:spPr>
      </p:pic>
      <p:pic>
        <p:nvPicPr>
          <p:cNvPr id="160" name="Google Shape;152;p11"/>
          <p:cNvPicPr>
            <a:picLocks noChangeAspect="1"/>
          </p:cNvPicPr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4447300" y="431600"/>
            <a:ext cx="256675" cy="9167125"/>
          </a:xfrm>
          <a:prstGeom prst="rect">
            <a:avLst/>
          </a:prstGeom>
          <a:ln>
            <a:noFill/>
          </a:ln>
        </p:spPr>
      </p:pic>
      <p:pic>
        <p:nvPicPr>
          <p:cNvPr id="161" name="Google Shape;153;p11"/>
          <p:cNvPicPr>
            <a:picLocks noChangeAspect="1"/>
          </p:cNvPicPr>
          <p:nvPr/>
        </p:nvPicPr>
        <p:blipFill rotWithShape="1">
          <a:blip r:embed="rId8">
            <a:alphaModFix/>
          </a:blip>
          <a:srcRect/>
          <a:stretch/>
        </p:blipFill>
        <p:spPr>
          <a:xfrm rot="-5400000">
            <a:off x="4412462" y="-3661887"/>
            <a:ext cx="319075" cy="9058100"/>
          </a:xfrm>
          <a:prstGeom prst="rect">
            <a:avLst/>
          </a:prstGeom>
          <a:ln>
            <a:noFill/>
          </a:ln>
        </p:spPr>
      </p:pic>
      <p:sp>
        <p:nvSpPr>
          <p:cNvPr id="154" name="Google Shape;154;p11">
            <a:extLst>
              <a:ext uri="{FF2B5EF4-FFF2-40B4-BE49-F238E27FC236}">
                <a16:creationId xmlns:a16="http://schemas.microsoft.com/office/drawing/2014/main" id="{FF6C1C98-F265-4ABE-9BFA-1E2108A54A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950" y="0"/>
            <a:ext cx="2942100" cy="7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normAutofit fontScale="90000"/>
          </a:bodyPr>
          <a:lstStyle/>
          <a:p>
            <a:pPr marL="0" indent="0" algn="l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sz="3000" b="1" dirty="0">
                <a:latin typeface="Times New Roman"/>
                <a:ea typeface="Times New Roman"/>
                <a:cs typeface="Times New Roman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41610396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1714</Words>
  <Application>Microsoft Office PowerPoint</Application>
  <DocSecurity>0</DocSecurity>
  <PresentationFormat>On-screen Show (16:9)</PresentationFormat>
  <Paragraphs>26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Times New Roman</vt:lpstr>
      <vt:lpstr>Simple Light</vt:lpstr>
      <vt:lpstr>PlumeTrace</vt:lpstr>
      <vt:lpstr>PROBLEM  STATEMENT</vt:lpstr>
      <vt:lpstr>ABSTRACT</vt:lpstr>
      <vt:lpstr>Backend &amp; API: FastAPI, gmqtt (async MQTT client), aiosqlite (async SQLAlchemy), SQLite, Pydantic v2, and a custom SSE Manager with exponential backoff . Streaming &amp; Telemetry: Embedded amqtt MQTT broker handling live IoT sensor subscriptions (city/airquality/+).  AI/ML Physics Engine: PyTorch 4D Physics-Informed Neural Network (PINN) — Fourier Residual architecture with Sobol sequence collocation and SoftAdapt loss weighting.  Agents &amp; Automation: LangGraph state-machine orchestrator, LangChain tool integrations, and a TF-IDF RAG engine for parsing Clean Air Act and municipal zoning policies.  Frontend &amp; Visualization: Next.js 14, Tailwind CSS, react-map-gl (hardware-accelerated MapLibre GL for 3D rendering), and Server-Sent Events (SSE) for zero-polling telemetry.  Optimization Framework: Optuna hyperparameter tuning for PINN architecture search (hidden units, layers, Fourier bands, and loss weights).</vt:lpstr>
      <vt:lpstr>Current air-quality response tools leave a critical gap between pollution detection and legally defensible source attribution. Public Dashboards (e.g., AirNow, PurpleAir): Solution: Display real-time, localized IoT sensor data. Drawback: They only show that pollution occurred, but lack the physical models to prove which upstream facility caused it. Offline Dispersion Models (e.g., AERMOD, CALPUFF): Solution: Provide highly accurate, EPA-approved plume modeling. Drawback: They require hours or days of manual data-gathering and setup by an expert, making them too slow for real-time incident triage. Generic AI Anomaly Detection: Solution: Use statistical machine learning to flag unusual sensor patterns. Drawback: They lack physical constraints (conservation of mass, fluid dynamics), producing "black box" source estimates that are difficult to defend in regulatory court proceedings. Manual Enforcement Workflows: Solution: Dispatch teams to cross-reference property maps and write warnings. Drawback: Creates inconsistent, fragmented evidence trails and severely slows down the enforcement response.</vt:lpstr>
      <vt:lpstr>When a sensor reading exceeds safe limits (SO₂ ≥ 75 ppb or PM2.5 ≥ 35 µg/m³), PlumeTrace executes a five-stage analytical response:  Ingestion &amp; Validation: Validate live telemetry via strict Pydantic v2 schemas and persist the reading to the SQLite event database. Broadcast &amp; Trigger: Broadcast the hazard alert to all connected dashboard clients via SSE and trigger the LangGraph agent state-machine. 4D Physics-Inversion: Run the 4D PINN inverse solver. It evaluates source probability over a spatial grid, fuses it with physics-based likelihood, and estimates upstream emission coordinates with uncertainty quantification. Forensic Snapping: Snap predicted coordinates to the nearest municipal facility using wind-aware scoring, then retrieve the facility's compliance history and zoning permits. Regulatory Drafting: Draft a three-paragraph regulatory enforcement warning using RAG-retrieved Clean Air Act guidelines and present it for human-in-the-loop review.</vt:lpstr>
      <vt:lpstr>Telemetry Path: IoT Sensors → MQTT Broker (city/airquality/+) → FastAPI gmqtt listener → Pydantic v2 validation → SQLite persistence → SSE broadcast → React dashboard.  Hazard Path: Alert triage → Meteorological vector extraction → 4D PINN source-inversion bridge (Fourier Residual + physics-fused posterior) → Municipal property registry search → RAG policy retrieval → Compliance report generation → Human-in-the-loop review panel.  Asynchronous Design: The architecture is fully asynchronous at every boundary. MQTT ingestion, SSE broadcasting, PINN inference (offloaded to a thread pool), and LangGraph agent execution run concurrently without ever blocking the API server.  Fault Tolerance: Server-Sent Events (SSE) connections feature automatic exponential backoff reconnection (1s → 2s → 4s → max 30s), ensuring the React dashboard recovers seamlessly from backend restarts or network interruptions.</vt:lpstr>
      <vt:lpstr>Neuro-Symbolic Response Loop: Deterministic hazard thresholds and hard-coded municipal registry rules are used to frame and constrain AI-generated enforcement text, ensuring legal defensibility rather than relying solely on LLM hallucination.  4D Physics-Informed Source Attribution: The PINN is mathematically constrained by the 4D Advection-Diffusion equation: ∂C/∂t + u·∂C/∂x + v·∂C/∂y + w·∂C/∂z − Dh·(∂²C/∂x² + ∂²C/∂y²) − Dv·∂²C/∂z² = 0. This incorporates vertical transport and altitude-aware sensing, unlike flat 2D models.  Physics-Fused Bayesian Posterior: The PINN's neural prior is multiplied by an analytic advection-diffusion likelihood function. This produces calibrated source probability maps with spatial uncertainty quantification (telling the operator exactly how confident the model is).  RAG-Augmented Legal Drafting: Enforcement reports aren't just generic warnings. They are grounded in dynamically retrieved sections of the Clean Air Act and local municipal zoning codes via TF-IDF vector search.  Human-in-the-Loop Safeguard: Operators can approve, reject, or request AI-powered refinements to draft reports before dispatch — maintaining strict human oversight over autonomous enforcement actions.</vt:lpstr>
      <vt:lpstr>ADVANTAGES Sub-Second Response: Performs source attribution during municipal hazard events in under a second, replacing what is traditionally hours of manual traceback.  Complete Evidence Chain: Links sensor coordinates → wind vectors → PINN AI inference → registry data → regulatory citation → human approval into a single, auditable flow.  Modular Architecture: Easy to scale or adapt. SQLite can be swapped for PostGIS, mock weather for live NOAA APIs, and synthetic sensors for real industrial stations . Resilient Dashboard: Features automatic SSE reconnection, ensuring operators don't lose live tracking if the network drops or the server restarts.  LIMITATIONS  Synthetic Data Dependency: The current prototype uses four synthetic sensors and static property records. Real deployments require calibration with actual terrain and historical boundary-layer data.  Compute Constraints: PINN inference currently runs on the CPU for the demo. Production deployments covering large urban grids would require GPU acceleration or ONNX compilation for edge hardware to maintain sub-second performance.  </vt:lpstr>
      <vt:lpstr>PlumeTrace demonstrates a practical smart-city response loop: detect, attribute, document, and escalate — all within seconds of a hazardous air quality event.  End-to-End Success: The prototype runs flawlessly from end to end: MQTT telemetry ingestion → 4D PINN inverse dispersion → LangGraph agent orchestration → RAG-augmented enforcement drafting → human-in-the-loop review.  Live Verification: The system has been successfully smoke-tested and verified with live sensor streams, real-time WebSocket dashboard updates, and browser-rendered compliance reports.  Next Milestones: Future developments include integrating live NOAA meteorological APIs, enabling multi-pollutant cross-correlation (e.g., SO₂ + VOC fingerprinting), deploying a PostGIS spatial database, and building a mobile field-verification companion app for on-site inspectors.</vt:lpstr>
      <vt:lpstr>   Physics-Informed Neural Networks for Joint Source and Parameter Estimation in Advection-Diffusion Equations https://arxiv.org/abs/2512.07755  Application of Physics-Informed Neural Networks for Solving the Inverse Advection-Diffusion Problem to Localize Pollution Sources (March 2025) https://arxiv.org/abs/2503.18849  Physics-Informed Neural Networks (PINN Core Architecture): Raissi, M., Perdikaris, P., &amp; Karniadakis, G. E. (2019). Physics-informed neural networks: A deep learning framework for solving forward and inverse problems involving nonlinear partial differential equations. Journal of Computational Physics, 378, 686-707.      https://faculty.sites.iastate.edu/hliu/files/inline-files/PINN_RPK_2019_1.pdf    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SUDARSHAN AJOY SINDHU</cp:lastModifiedBy>
  <cp:revision>2</cp:revision>
  <dcterms:created xsi:type="dcterms:W3CDTF">2026-07-09T04:39:37Z</dcterms:created>
  <dcterms:modified xsi:type="dcterms:W3CDTF">2026-07-15T17:11:31Z</dcterms:modified>
</cp:coreProperties>
</file>